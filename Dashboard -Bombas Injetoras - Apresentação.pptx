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3" r:id="rId8"/>
    <p:sldId id="264" r:id="rId9"/>
    <p:sldId id="265" r:id="rId10"/>
    <p:sldId id="266" r:id="rId11"/>
    <p:sldId id="270" r:id="rId12"/>
    <p:sldId id="271" r:id="rId13"/>
    <p:sldId id="272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BA37E7F-99B5-C95A-63AC-FE438ADC24D3}" v="8" dt="2025-11-15T23:02:19.258"/>
    <p1510:client id="{C2DB8991-A248-B4D8-BE73-BC232322A594}" v="215" dt="2025-11-15T22:13:51.53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>
        <p:scale>
          <a:sx n="75" d="100"/>
          <a:sy n="75" d="100"/>
        </p:scale>
        <p:origin x="540" y="-2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11/15/2025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11/15/2025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548BCD-9732-CEE9-013B-BF7B15A8EB2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/>
            <a:endParaRPr lang="pt-BR" sz="1600" dirty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algn="ctr"/>
            <a:r>
              <a:rPr lang="pt-BR" sz="3600" b="1" dirty="0">
                <a:solidFill>
                  <a:srgbClr val="000000"/>
                </a:solidFill>
                <a:latin typeface="Century Gothic"/>
                <a:cs typeface="Times New Roman"/>
              </a:rPr>
              <a:t>Dashboard inteligente com Machine Learning para oficinas Diesel.</a:t>
            </a:r>
            <a:endParaRPr lang="pt-BR" sz="1600" dirty="0">
              <a:solidFill>
                <a:srgbClr val="000000"/>
              </a:solidFill>
              <a:latin typeface="Century Gothic"/>
              <a:cs typeface="Times New Roman"/>
            </a:endParaRPr>
          </a:p>
          <a:p>
            <a:pPr algn="ctr"/>
            <a:endParaRPr lang="pt-B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D6840B9-2029-9774-0851-44EA61B4FB1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Projeto integrador – UNIVESP - 2025</a:t>
            </a:r>
          </a:p>
        </p:txBody>
      </p:sp>
    </p:spTree>
    <p:extLst>
      <p:ext uri="{BB962C8B-B14F-4D97-AF65-F5344CB8AC3E}">
        <p14:creationId xmlns:p14="http://schemas.microsoft.com/office/powerpoint/2010/main" val="28656310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9BC950FB-1816-66B0-BBF6-F4A94A05C0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Integrantes do grupo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2C1B697-F0D3-7EFB-AA98-B6B9A557D286}"/>
              </a:ext>
            </a:extLst>
          </p:cNvPr>
          <p:cNvSpPr txBox="1"/>
          <p:nvPr/>
        </p:nvSpPr>
        <p:spPr>
          <a:xfrm>
            <a:off x="2606992" y="2529118"/>
            <a:ext cx="8911687" cy="325076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pt-BR" sz="1800" dirty="0">
                <a:latin typeface="Arial"/>
                <a:ea typeface="Arial" panose="020B0604020202020204" pitchFamily="34" charset="0"/>
                <a:cs typeface="Arial"/>
              </a:rPr>
              <a:t>INTEGRANTES DO </a:t>
            </a:r>
            <a:r>
              <a:rPr lang="pt-BR" dirty="0">
                <a:latin typeface="Arial"/>
                <a:ea typeface="Arial" panose="020B0604020202020204" pitchFamily="34" charset="0"/>
                <a:cs typeface="Arial"/>
              </a:rPr>
              <a:t>DRP09-PJI410-SALA-001-GRUPO-006</a:t>
            </a:r>
            <a:endParaRPr lang="pt-BR" sz="1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>
              <a:lnSpc>
                <a:spcPct val="114999"/>
              </a:lnSpc>
              <a:buNone/>
            </a:pPr>
            <a:r>
              <a:rPr lang="pt-BR">
                <a:effectLst/>
                <a:latin typeface="Arial"/>
                <a:ea typeface="Arial" panose="020B0604020202020204" pitchFamily="34" charset="0"/>
                <a:cs typeface="Arial"/>
              </a:rPr>
              <a:t>Ederaldo Malheiros Neto, RA 2204833</a:t>
            </a:r>
          </a:p>
          <a:p>
            <a:pPr>
              <a:lnSpc>
                <a:spcPct val="114999"/>
              </a:lnSpc>
            </a:pPr>
            <a:r>
              <a:rPr lang="pt-BR">
                <a:latin typeface="Arial"/>
                <a:ea typeface="Arial" panose="020B0604020202020204" pitchFamily="34" charset="0"/>
                <a:cs typeface="Arial"/>
              </a:rPr>
              <a:t>Flávio Augusto Custódio</a:t>
            </a:r>
            <a:r>
              <a:rPr lang="pt-BR">
                <a:effectLst/>
                <a:latin typeface="Arial"/>
                <a:ea typeface="Arial" panose="020B0604020202020204" pitchFamily="34" charset="0"/>
                <a:cs typeface="Arial"/>
              </a:rPr>
              <a:t>, RA </a:t>
            </a:r>
            <a:r>
              <a:rPr lang="pt-BR">
                <a:latin typeface="Arial"/>
                <a:ea typeface="Arial" panose="020B0604020202020204" pitchFamily="34" charset="0"/>
                <a:cs typeface="Arial"/>
              </a:rPr>
              <a:t>1836779</a:t>
            </a:r>
            <a:endParaRPr lang="pt-BR">
              <a:effectLst/>
              <a:latin typeface="Arial"/>
              <a:ea typeface="Arial" panose="020B0604020202020204" pitchFamily="34" charset="0"/>
              <a:cs typeface="Arial"/>
            </a:endParaRPr>
          </a:p>
          <a:p>
            <a:pPr>
              <a:lnSpc>
                <a:spcPct val="114999"/>
              </a:lnSpc>
            </a:pPr>
            <a:r>
              <a:rPr lang="pt-BR" err="1">
                <a:latin typeface="Arial"/>
                <a:ea typeface="Arial" panose="020B0604020202020204" pitchFamily="34" charset="0"/>
                <a:cs typeface="Arial"/>
              </a:rPr>
              <a:t>Franciel</a:t>
            </a:r>
            <a:r>
              <a:rPr lang="pt-BR">
                <a:latin typeface="Arial"/>
                <a:ea typeface="Arial" panose="020B0604020202020204" pitchFamily="34" charset="0"/>
                <a:cs typeface="Arial"/>
              </a:rPr>
              <a:t> Costa Silva</a:t>
            </a:r>
            <a:r>
              <a:rPr lang="pt-BR">
                <a:effectLst/>
                <a:latin typeface="Arial"/>
                <a:ea typeface="Arial" panose="020B0604020202020204" pitchFamily="34" charset="0"/>
                <a:cs typeface="Arial"/>
              </a:rPr>
              <a:t>, RA </a:t>
            </a:r>
            <a:r>
              <a:rPr lang="pt-BR">
                <a:latin typeface="Arial"/>
                <a:ea typeface="Arial" panose="020B0604020202020204" pitchFamily="34" charset="0"/>
                <a:cs typeface="Arial"/>
              </a:rPr>
              <a:t>2232668</a:t>
            </a:r>
            <a:endParaRPr lang="pt-BR">
              <a:effectLst/>
              <a:latin typeface="Arial"/>
              <a:ea typeface="Arial" panose="020B0604020202020204" pitchFamily="34" charset="0"/>
              <a:cs typeface="Arial"/>
            </a:endParaRPr>
          </a:p>
          <a:p>
            <a:pPr>
              <a:lnSpc>
                <a:spcPct val="114999"/>
              </a:lnSpc>
            </a:pPr>
            <a:r>
              <a:rPr lang="pt-BR" dirty="0">
                <a:latin typeface="Arial"/>
                <a:ea typeface="Arial" panose="020B0604020202020204" pitchFamily="34" charset="0"/>
                <a:cs typeface="Arial"/>
              </a:rPr>
              <a:t>Jonas Cândido Pereira</a:t>
            </a:r>
            <a:r>
              <a:rPr lang="pt-BR" dirty="0">
                <a:effectLst/>
                <a:latin typeface="Arial"/>
                <a:ea typeface="Arial" panose="020B0604020202020204" pitchFamily="34" charset="0"/>
                <a:cs typeface="Arial"/>
              </a:rPr>
              <a:t>, RA </a:t>
            </a:r>
            <a:r>
              <a:rPr lang="pt-BR" dirty="0">
                <a:latin typeface="Arial"/>
                <a:ea typeface="Arial" panose="020B0604020202020204" pitchFamily="34" charset="0"/>
                <a:cs typeface="Arial"/>
              </a:rPr>
              <a:t>2211008</a:t>
            </a:r>
            <a:endParaRPr lang="pt-BR" dirty="0">
              <a:effectLst/>
              <a:latin typeface="Arial"/>
              <a:ea typeface="Arial" panose="020B0604020202020204" pitchFamily="34" charset="0"/>
              <a:cs typeface="Arial"/>
            </a:endParaRPr>
          </a:p>
          <a:p>
            <a:pPr>
              <a:lnSpc>
                <a:spcPct val="114999"/>
              </a:lnSpc>
            </a:pPr>
            <a:r>
              <a:rPr lang="pt-BR" dirty="0">
                <a:latin typeface="Arial"/>
                <a:ea typeface="Arial" panose="020B0604020202020204" pitchFamily="34" charset="0"/>
                <a:cs typeface="Arial"/>
              </a:rPr>
              <a:t>Matheus Eduardo </a:t>
            </a:r>
            <a:r>
              <a:rPr lang="pt-BR" dirty="0" err="1">
                <a:latin typeface="Arial"/>
                <a:ea typeface="Arial" panose="020B0604020202020204" pitchFamily="34" charset="0"/>
                <a:cs typeface="Arial"/>
              </a:rPr>
              <a:t>Brisolari</a:t>
            </a:r>
            <a:r>
              <a:rPr lang="pt-BR" dirty="0">
                <a:latin typeface="Arial"/>
                <a:ea typeface="Arial" panose="020B0604020202020204" pitchFamily="34" charset="0"/>
                <a:cs typeface="Arial"/>
              </a:rPr>
              <a:t> RA 2231268</a:t>
            </a:r>
            <a:endParaRPr lang="pt-BR" dirty="0">
              <a:effectLst/>
              <a:latin typeface="Arial"/>
              <a:ea typeface="Arial" panose="020B0604020202020204" pitchFamily="34" charset="0"/>
              <a:cs typeface="Arial"/>
            </a:endParaRPr>
          </a:p>
          <a:p>
            <a:pPr>
              <a:lnSpc>
                <a:spcPct val="114999"/>
              </a:lnSpc>
              <a:buNone/>
            </a:pPr>
            <a:r>
              <a:rPr lang="pt-BR" dirty="0">
                <a:effectLst/>
                <a:latin typeface="Arial"/>
                <a:ea typeface="Arial" panose="020B0604020202020204" pitchFamily="34" charset="0"/>
                <a:cs typeface="Arial"/>
              </a:rPr>
              <a:t>Ricardo Carlos Seabra de Andrade, RA 2219731</a:t>
            </a:r>
          </a:p>
          <a:p>
            <a:pPr>
              <a:lnSpc>
                <a:spcPct val="114999"/>
              </a:lnSpc>
            </a:pPr>
            <a:r>
              <a:rPr lang="pt-BR" dirty="0">
                <a:effectLst/>
                <a:latin typeface="Arial"/>
                <a:ea typeface="Arial" panose="020B0604020202020204" pitchFamily="34" charset="0"/>
                <a:cs typeface="Arial"/>
              </a:rPr>
              <a:t>Rodrigo Garcia, RA 1833314</a:t>
            </a:r>
            <a:endParaRPr lang="pt-BR" dirty="0">
              <a:latin typeface="Arial"/>
              <a:ea typeface="Arial" panose="020B0604020202020204" pitchFamily="34" charset="0"/>
              <a:cs typeface="Arial"/>
            </a:endParaRPr>
          </a:p>
          <a:p>
            <a:pPr>
              <a:lnSpc>
                <a:spcPct val="114999"/>
              </a:lnSpc>
            </a:pPr>
            <a:r>
              <a:rPr lang="pt-BR" dirty="0">
                <a:latin typeface="Arial"/>
                <a:ea typeface="Arial" panose="020B0604020202020204" pitchFamily="34" charset="0"/>
                <a:cs typeface="Arial"/>
              </a:rPr>
              <a:t>Welington Rodrigo </a:t>
            </a:r>
            <a:r>
              <a:rPr lang="pt-BR" dirty="0" err="1">
                <a:latin typeface="Arial"/>
                <a:ea typeface="Arial" panose="020B0604020202020204" pitchFamily="34" charset="0"/>
                <a:cs typeface="Arial"/>
              </a:rPr>
              <a:t>Tortora</a:t>
            </a:r>
            <a:r>
              <a:rPr lang="pt-BR" dirty="0">
                <a:latin typeface="Arial"/>
                <a:ea typeface="Arial" panose="020B0604020202020204" pitchFamily="34" charset="0"/>
                <a:cs typeface="Arial"/>
              </a:rPr>
              <a:t>, RA 2232661</a:t>
            </a:r>
          </a:p>
          <a:p>
            <a:pPr marL="0" indent="0">
              <a:lnSpc>
                <a:spcPct val="114999"/>
              </a:lnSpc>
              <a:buNone/>
            </a:pPr>
            <a:endParaRPr lang="pt-BR" sz="1800" dirty="0">
              <a:effectLst/>
              <a:latin typeface="Arial" panose="020B0604020202020204" pitchFamily="34" charset="0"/>
              <a:ea typeface="Arial" panose="020B0604020202020204" pitchFamily="34" charset="0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275430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4911CA88-F44C-E60E-5708-2FA7B7FA7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                     Justificativa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FFDE456-1CD7-766B-88BC-5D3E063B5B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42873" y="2133600"/>
            <a:ext cx="9461739" cy="377762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pt-BR" dirty="0"/>
          </a:p>
          <a:p>
            <a:pPr algn="just">
              <a:buNone/>
            </a:pPr>
            <a:r>
              <a:rPr lang="pt-BR" dirty="0">
                <a:ea typeface="+mn-lt"/>
                <a:cs typeface="+mn-lt"/>
              </a:rPr>
              <a:t>   projeto aprimora o software existente na oficina Eletrônica Diesel,</a:t>
            </a:r>
            <a:br>
              <a:rPr lang="pt-BR" dirty="0">
                <a:ea typeface="+mn-lt"/>
                <a:cs typeface="+mn-lt"/>
              </a:rPr>
            </a:br>
            <a:r>
              <a:rPr lang="pt-BR" dirty="0">
                <a:ea typeface="+mn-lt"/>
                <a:cs typeface="+mn-lt"/>
              </a:rPr>
              <a:t> implementando:</a:t>
            </a:r>
            <a:endParaRPr lang="pt-BR" dirty="0"/>
          </a:p>
          <a:p>
            <a:pPr algn="just">
              <a:buFont typeface="Wingdings 3"/>
              <a:buChar char=""/>
            </a:pPr>
            <a:r>
              <a:rPr lang="pt-BR" b="1" dirty="0">
                <a:ea typeface="+mn-lt"/>
                <a:cs typeface="+mn-lt"/>
              </a:rPr>
              <a:t>Análise de dados em escala</a:t>
            </a:r>
            <a:endParaRPr lang="pt-BR" dirty="0"/>
          </a:p>
          <a:p>
            <a:pPr algn="just">
              <a:buFont typeface="Wingdings 3"/>
              <a:buChar char=""/>
            </a:pPr>
            <a:r>
              <a:rPr lang="pt-BR" b="1" dirty="0">
                <a:ea typeface="+mn-lt"/>
                <a:cs typeface="+mn-lt"/>
              </a:rPr>
              <a:t>Modelos de Machine Learning</a:t>
            </a:r>
            <a:endParaRPr lang="pt-BR" dirty="0"/>
          </a:p>
          <a:p>
            <a:pPr algn="just">
              <a:buFont typeface="Wingdings 3"/>
              <a:buChar char=""/>
            </a:pPr>
            <a:r>
              <a:rPr lang="pt-BR" b="1" dirty="0">
                <a:ea typeface="+mn-lt"/>
                <a:cs typeface="+mn-lt"/>
              </a:rPr>
              <a:t>Dashboards em tempo real</a:t>
            </a:r>
          </a:p>
          <a:p>
            <a:pPr algn="just">
              <a:buFont typeface="Wingdings 3"/>
              <a:buChar char=""/>
            </a:pPr>
            <a:r>
              <a:rPr lang="pt-BR" b="1" dirty="0">
                <a:ea typeface="+mn-lt"/>
                <a:cs typeface="+mn-lt"/>
              </a:rPr>
              <a:t>Automação de relatórios</a:t>
            </a:r>
            <a:endParaRPr lang="pt-BR" dirty="0"/>
          </a:p>
          <a:p>
            <a:pPr indent="0" algn="just">
              <a:buNone/>
            </a:pPr>
            <a:r>
              <a:rPr lang="pt-BR" dirty="0">
                <a:ea typeface="+mn-lt"/>
                <a:cs typeface="+mn-lt"/>
              </a:rPr>
              <a:t>Com isso, o sistema passa a oferecer maior eficiência operacional,</a:t>
            </a:r>
            <a:br>
              <a:rPr lang="pt-BR" dirty="0">
                <a:ea typeface="+mn-lt"/>
                <a:cs typeface="+mn-lt"/>
              </a:rPr>
            </a:br>
            <a:r>
              <a:rPr lang="pt-BR" dirty="0">
                <a:ea typeface="+mn-lt"/>
                <a:cs typeface="+mn-lt"/>
              </a:rPr>
              <a:t> maior precisão nas tomadas de decisão e mais transparência nos processos.</a:t>
            </a:r>
          </a:p>
          <a:p>
            <a:pPr marL="0" indent="0" algn="just">
              <a:buNone/>
            </a:pPr>
            <a:endParaRPr lang="pt-BR" dirty="0"/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885949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41C0E8-EE42-6738-BC55-514E75EDE9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>
                <a:ea typeface="+mj-lt"/>
                <a:cs typeface="+mj-lt"/>
              </a:rPr>
              <a:t>Objetivos do Projeto</a:t>
            </a:r>
            <a:br>
              <a:rPr lang="pt-BR" dirty="0"/>
            </a:br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0341AEFF-A258-4908-6DFF-48CF3342CD2F}"/>
              </a:ext>
            </a:extLst>
          </p:cNvPr>
          <p:cNvSpPr/>
          <p:nvPr/>
        </p:nvSpPr>
        <p:spPr>
          <a:xfrm>
            <a:off x="4679266" y="3914775"/>
            <a:ext cx="505509" cy="1016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9D090335-2BF2-1BEA-5917-E7D7F8CFFFAB}"/>
              </a:ext>
            </a:extLst>
          </p:cNvPr>
          <p:cNvSpPr/>
          <p:nvPr/>
        </p:nvSpPr>
        <p:spPr>
          <a:xfrm flipV="1">
            <a:off x="6872421" y="3597275"/>
            <a:ext cx="212457" cy="11557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8E28DC8D-5A80-7F05-B905-650331F6E92C}"/>
              </a:ext>
            </a:extLst>
          </p:cNvPr>
          <p:cNvSpPr/>
          <p:nvPr/>
        </p:nvSpPr>
        <p:spPr>
          <a:xfrm>
            <a:off x="7938769" y="3655060"/>
            <a:ext cx="141606" cy="7556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A7CFA509-7F5D-8C3E-6505-879BEE999CC4}"/>
              </a:ext>
            </a:extLst>
          </p:cNvPr>
          <p:cNvSpPr/>
          <p:nvPr/>
        </p:nvSpPr>
        <p:spPr>
          <a:xfrm>
            <a:off x="5791200" y="3317875"/>
            <a:ext cx="304800" cy="5397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3D12F589-D2E7-C23E-4AEE-6A4E84B78F01}"/>
              </a:ext>
            </a:extLst>
          </p:cNvPr>
          <p:cNvSpPr txBox="1"/>
          <p:nvPr/>
        </p:nvSpPr>
        <p:spPr>
          <a:xfrm>
            <a:off x="1408982" y="1703718"/>
            <a:ext cx="8180715" cy="31393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>
              <a:buFont typeface=""/>
              <a:buChar char="•"/>
            </a:pPr>
            <a:r>
              <a:rPr lang="pt-BR" dirty="0"/>
              <a:t>Aprimorar</a:t>
            </a:r>
            <a:r>
              <a:rPr lang="en-US" dirty="0"/>
              <a:t> o software </a:t>
            </a:r>
            <a:r>
              <a:rPr lang="en-US" dirty="0" err="1"/>
              <a:t>já</a:t>
            </a:r>
            <a:r>
              <a:rPr lang="en-US" dirty="0"/>
              <a:t> </a:t>
            </a:r>
            <a:r>
              <a:rPr lang="en-US" dirty="0" err="1"/>
              <a:t>existente</a:t>
            </a:r>
            <a:r>
              <a:rPr lang="en-US" dirty="0"/>
              <a:t> da </a:t>
            </a:r>
            <a:r>
              <a:rPr lang="en-US" dirty="0" err="1"/>
              <a:t>oficina</a:t>
            </a:r>
            <a:r>
              <a:rPr lang="en-US" dirty="0"/>
              <a:t> </a:t>
            </a:r>
            <a:r>
              <a:rPr lang="en-US" dirty="0" err="1"/>
              <a:t>Eletrônica</a:t>
            </a:r>
            <a:r>
              <a:rPr lang="en-US" dirty="0"/>
              <a:t> Diesel</a:t>
            </a:r>
          </a:p>
          <a:p>
            <a:pPr marL="228600" indent="-228600">
              <a:buFont typeface=""/>
              <a:buChar char="•"/>
            </a:pPr>
            <a:r>
              <a:rPr lang="en-US" dirty="0" err="1"/>
              <a:t>Implementar</a:t>
            </a:r>
            <a:r>
              <a:rPr lang="en-US" dirty="0"/>
              <a:t> </a:t>
            </a:r>
            <a:r>
              <a:rPr lang="en-US" b="1" dirty="0" err="1"/>
              <a:t>análise</a:t>
            </a:r>
            <a:r>
              <a:rPr lang="en-US" b="1" dirty="0"/>
              <a:t> de dados</a:t>
            </a:r>
            <a:r>
              <a:rPr lang="en-US" dirty="0"/>
              <a:t> para </a:t>
            </a:r>
            <a:r>
              <a:rPr lang="en-US" dirty="0" err="1"/>
              <a:t>entendimento</a:t>
            </a:r>
            <a:r>
              <a:rPr lang="en-US" dirty="0"/>
              <a:t> do </a:t>
            </a:r>
            <a:r>
              <a:rPr lang="en-US" dirty="0" err="1"/>
              <a:t>desempenho</a:t>
            </a:r>
            <a:r>
              <a:rPr lang="en-US" dirty="0"/>
              <a:t> </a:t>
            </a:r>
            <a:r>
              <a:rPr lang="en-US" dirty="0" err="1"/>
              <a:t>operacional</a:t>
            </a:r>
          </a:p>
          <a:p>
            <a:pPr marL="228600" indent="-228600">
              <a:buFont typeface=""/>
              <a:buChar char="•"/>
            </a:pPr>
            <a:r>
              <a:rPr lang="en-US" dirty="0" err="1"/>
              <a:t>Criar</a:t>
            </a:r>
            <a:r>
              <a:rPr lang="en-US" dirty="0"/>
              <a:t> </a:t>
            </a:r>
            <a:r>
              <a:rPr lang="en-US" b="1" dirty="0"/>
              <a:t>dashboards </a:t>
            </a:r>
            <a:r>
              <a:rPr lang="en-US" b="1" dirty="0" err="1"/>
              <a:t>em</a:t>
            </a:r>
            <a:r>
              <a:rPr lang="en-US" b="1" dirty="0"/>
              <a:t> tempo real</a:t>
            </a:r>
            <a:r>
              <a:rPr lang="en-US" dirty="0"/>
              <a:t> para </a:t>
            </a:r>
            <a:r>
              <a:rPr lang="en-US" dirty="0" err="1"/>
              <a:t>apoiar</a:t>
            </a:r>
            <a:r>
              <a:rPr lang="en-US" dirty="0"/>
              <a:t> a </a:t>
            </a:r>
            <a:r>
              <a:rPr lang="en-US" dirty="0" err="1"/>
              <a:t>tomada</a:t>
            </a:r>
            <a:r>
              <a:rPr lang="en-US" dirty="0"/>
              <a:t> de </a:t>
            </a:r>
            <a:r>
              <a:rPr lang="en-US" dirty="0" err="1"/>
              <a:t>decisões</a:t>
            </a:r>
          </a:p>
          <a:p>
            <a:pPr marL="228600" indent="-228600">
              <a:buFont typeface=""/>
              <a:buChar char="•"/>
            </a:pPr>
            <a:r>
              <a:rPr lang="en-US" dirty="0" err="1"/>
              <a:t>Automatizar</a:t>
            </a:r>
            <a:r>
              <a:rPr lang="en-US" dirty="0"/>
              <a:t> a </a:t>
            </a:r>
            <a:r>
              <a:rPr lang="en-US" b="1" dirty="0" err="1"/>
              <a:t>geração</a:t>
            </a:r>
            <a:r>
              <a:rPr lang="en-US" b="1" dirty="0"/>
              <a:t> de </a:t>
            </a:r>
            <a:r>
              <a:rPr lang="en-US" b="1" dirty="0" err="1"/>
              <a:t>relatórios</a:t>
            </a:r>
            <a:r>
              <a:rPr lang="en-US" b="1" dirty="0"/>
              <a:t> </a:t>
            </a:r>
            <a:r>
              <a:rPr lang="en-US" b="1" dirty="0" err="1"/>
              <a:t>financeiros</a:t>
            </a:r>
            <a:r>
              <a:rPr lang="en-US" b="1" dirty="0"/>
              <a:t> e </a:t>
            </a:r>
            <a:r>
              <a:rPr lang="en-US" b="1" dirty="0" err="1"/>
              <a:t>operacionais</a:t>
            </a:r>
          </a:p>
          <a:p>
            <a:pPr marL="228600" indent="-228600">
              <a:buFont typeface=""/>
              <a:buChar char="•"/>
            </a:pPr>
            <a:r>
              <a:rPr lang="en-US" dirty="0" err="1"/>
              <a:t>Integrar</a:t>
            </a:r>
            <a:r>
              <a:rPr lang="en-US" dirty="0"/>
              <a:t> </a:t>
            </a:r>
            <a:r>
              <a:rPr lang="en-US" b="1" dirty="0" err="1"/>
              <a:t>modelos</a:t>
            </a:r>
            <a:r>
              <a:rPr lang="en-US" b="1" dirty="0"/>
              <a:t> de Machine Learning</a:t>
            </a:r>
            <a:r>
              <a:rPr lang="en-US" dirty="0"/>
              <a:t> (</a:t>
            </a:r>
            <a:r>
              <a:rPr lang="en-US" dirty="0" err="1"/>
              <a:t>Árvore</a:t>
            </a:r>
            <a:r>
              <a:rPr lang="en-US" dirty="0"/>
              <a:t> de </a:t>
            </a:r>
            <a:r>
              <a:rPr lang="en-US" dirty="0" err="1"/>
              <a:t>Decisão</a:t>
            </a:r>
            <a:r>
              <a:rPr lang="en-US" dirty="0"/>
              <a:t> e Redes </a:t>
            </a:r>
            <a:r>
              <a:rPr lang="en-US" dirty="0" err="1"/>
              <a:t>Neurais</a:t>
            </a:r>
            <a:r>
              <a:rPr lang="en-US" dirty="0"/>
              <a:t>)</a:t>
            </a:r>
          </a:p>
          <a:p>
            <a:pPr marL="228600" indent="-228600">
              <a:buFont typeface=""/>
              <a:buChar char="•"/>
            </a:pPr>
            <a:r>
              <a:rPr lang="en-US" dirty="0" err="1"/>
              <a:t>Aumentar</a:t>
            </a:r>
            <a:r>
              <a:rPr lang="en-US" dirty="0"/>
              <a:t> a </a:t>
            </a:r>
            <a:r>
              <a:rPr lang="en-US" dirty="0" err="1"/>
              <a:t>eficiência</a:t>
            </a:r>
            <a:r>
              <a:rPr lang="en-US" dirty="0"/>
              <a:t>, </a:t>
            </a:r>
            <a:r>
              <a:rPr lang="en-US" dirty="0" err="1"/>
              <a:t>transparência</a:t>
            </a:r>
            <a:r>
              <a:rPr lang="en-US" dirty="0"/>
              <a:t> e </a:t>
            </a:r>
            <a:r>
              <a:rPr lang="en-US" dirty="0" err="1"/>
              <a:t>confiabilidade</a:t>
            </a:r>
            <a:r>
              <a:rPr lang="en-US" dirty="0"/>
              <a:t> dos </a:t>
            </a:r>
            <a:r>
              <a:rPr lang="en-US" dirty="0" err="1"/>
              <a:t>processos</a:t>
            </a:r>
          </a:p>
          <a:p>
            <a:pPr marL="228600" indent="-228600">
              <a:buFont typeface=""/>
              <a:buChar char="•"/>
            </a:pPr>
            <a:r>
              <a:rPr lang="en-US" dirty="0" err="1"/>
              <a:t>Facilitar</a:t>
            </a:r>
            <a:r>
              <a:rPr lang="en-US" dirty="0"/>
              <a:t> a </a:t>
            </a:r>
            <a:r>
              <a:rPr lang="en-US" dirty="0" err="1"/>
              <a:t>gestão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meio</a:t>
            </a:r>
            <a:r>
              <a:rPr lang="en-US" dirty="0"/>
              <a:t> de </a:t>
            </a:r>
            <a:r>
              <a:rPr lang="en-US" dirty="0" err="1"/>
              <a:t>uma</a:t>
            </a:r>
            <a:r>
              <a:rPr lang="en-US" dirty="0"/>
              <a:t> interface </a:t>
            </a:r>
            <a:r>
              <a:rPr lang="en-US" dirty="0" err="1"/>
              <a:t>centralizada</a:t>
            </a:r>
            <a:r>
              <a:rPr lang="en-US" dirty="0"/>
              <a:t> e </a:t>
            </a:r>
            <a:r>
              <a:rPr lang="en-US" dirty="0" err="1"/>
              <a:t>integrada</a:t>
            </a:r>
          </a:p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475785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2B0A674A-B0F5-7F4D-0C07-5B1F790B1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just"/>
            <a:r>
              <a:rPr lang="pt-BR" dirty="0">
                <a:ea typeface="+mj-lt"/>
                <a:cs typeface="+mj-lt"/>
              </a:rPr>
              <a:t>Metodologia Utilizada</a:t>
            </a:r>
            <a:endParaRPr lang="pt-BR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258006AE-21C9-06FA-4222-F0D3B2FBFAF2}"/>
              </a:ext>
            </a:extLst>
          </p:cNvPr>
          <p:cNvSpPr txBox="1"/>
          <p:nvPr/>
        </p:nvSpPr>
        <p:spPr>
          <a:xfrm>
            <a:off x="3048000" y="1720516"/>
            <a:ext cx="5999748" cy="39703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>
              <a:buFont typeface=""/>
              <a:buChar char="•"/>
            </a:pPr>
            <a:r>
              <a:rPr lang="en-US" b="1"/>
              <a:t>Abordagem mista (quantitativa + qualitativa)</a:t>
            </a:r>
          </a:p>
          <a:p>
            <a:pPr marL="228600" indent="-228600">
              <a:buFont typeface=""/>
              <a:buChar char="•"/>
            </a:pPr>
            <a:r>
              <a:rPr lang="en-US"/>
              <a:t>Coleta de dados operacionais da oficina</a:t>
            </a:r>
          </a:p>
          <a:p>
            <a:pPr marL="228600" indent="-228600">
              <a:buFont typeface=""/>
              <a:buChar char="•"/>
            </a:pPr>
            <a:r>
              <a:rPr lang="en-US"/>
              <a:t>Observação direta (etnografia) do uso do sistema pelos funcionários</a:t>
            </a:r>
          </a:p>
          <a:p>
            <a:pPr marL="228600" indent="-228600">
              <a:buFont typeface=""/>
              <a:buChar char="•"/>
            </a:pPr>
            <a:r>
              <a:rPr lang="en-US"/>
              <a:t>Entrevistas não estruturadas para identificar necessidades implícitas</a:t>
            </a:r>
          </a:p>
          <a:p>
            <a:pPr marL="228600" indent="-228600">
              <a:buFont typeface=""/>
              <a:buChar char="•"/>
            </a:pPr>
            <a:r>
              <a:rPr lang="en-US"/>
              <a:t>Tratamento e análise dos dados em Python (Pandas, NumPy, Scikit-learn)</a:t>
            </a:r>
          </a:p>
          <a:p>
            <a:pPr marL="228600" indent="-228600">
              <a:buFont typeface=""/>
              <a:buChar char="•"/>
            </a:pPr>
            <a:r>
              <a:rPr lang="en-US"/>
              <a:t>Uso de Google Colab e Google Drive para processamento em nuvem</a:t>
            </a:r>
          </a:p>
          <a:p>
            <a:pPr marL="228600" indent="-228600">
              <a:buFont typeface=""/>
              <a:buChar char="•"/>
            </a:pPr>
            <a:r>
              <a:rPr lang="en-US"/>
              <a:t>Construção de dashboards no </a:t>
            </a:r>
            <a:r>
              <a:rPr lang="en-US" b="1"/>
              <a:t>Streamlit</a:t>
            </a:r>
          </a:p>
          <a:p>
            <a:pPr marL="228600" indent="-228600">
              <a:buFont typeface=""/>
              <a:buChar char="•"/>
            </a:pPr>
            <a:r>
              <a:rPr lang="en-US"/>
              <a:t>Modelagem com algoritmos de </a:t>
            </a:r>
            <a:r>
              <a:rPr lang="en-US" b="1"/>
              <a:t>Árvore de Decisão e Rede Neural</a:t>
            </a:r>
          </a:p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707230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FF725F-2E53-0A33-9F7E-D335676622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4" y="375458"/>
            <a:ext cx="5406487" cy="767543"/>
          </a:xfrm>
        </p:spPr>
        <p:txBody>
          <a:bodyPr>
            <a:normAutofit/>
          </a:bodyPr>
          <a:lstStyle/>
          <a:p>
            <a:r>
              <a:rPr lang="pt-BR" dirty="0">
                <a:ea typeface="+mj-lt"/>
                <a:cs typeface="+mj-lt"/>
              </a:rPr>
              <a:t>Tecnologias Utilizadas</a:t>
            </a:r>
            <a:endParaRPr lang="pt-BR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0FC8B62E-3663-590C-B23A-B2962E3B3756}"/>
              </a:ext>
            </a:extLst>
          </p:cNvPr>
          <p:cNvSpPr txBox="1"/>
          <p:nvPr/>
        </p:nvSpPr>
        <p:spPr>
          <a:xfrm>
            <a:off x="1556085" y="910391"/>
            <a:ext cx="9376608" cy="31393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 err="1"/>
              <a:t>Linguagens</a:t>
            </a:r>
            <a:r>
              <a:rPr lang="en-US" b="1" dirty="0"/>
              <a:t> e </a:t>
            </a:r>
            <a:r>
              <a:rPr lang="en-US" b="1" dirty="0" err="1"/>
              <a:t>Bibliotecas</a:t>
            </a:r>
          </a:p>
          <a:p>
            <a:pPr marL="228600" indent="-228600">
              <a:buFont typeface=""/>
              <a:buChar char="•"/>
            </a:pPr>
            <a:r>
              <a:rPr lang="en-US" b="1" dirty="0"/>
              <a:t>Python</a:t>
            </a:r>
          </a:p>
          <a:p>
            <a:pPr marL="228600" lvl="1" indent="-228600">
              <a:buFont typeface=""/>
              <a:buChar char="•"/>
            </a:pPr>
            <a:r>
              <a:rPr lang="en-US" dirty="0"/>
              <a:t>Pandas (</a:t>
            </a:r>
            <a:r>
              <a:rPr lang="en-US" dirty="0" err="1"/>
              <a:t>tratamento</a:t>
            </a:r>
            <a:r>
              <a:rPr lang="en-US" dirty="0"/>
              <a:t> de dados)</a:t>
            </a:r>
          </a:p>
          <a:p>
            <a:pPr marL="228600" lvl="1" indent="-228600">
              <a:buFont typeface=""/>
              <a:buChar char="•"/>
            </a:pPr>
            <a:r>
              <a:rPr lang="en-US" dirty="0"/>
              <a:t>NumPy (</a:t>
            </a:r>
            <a:r>
              <a:rPr lang="en-US" dirty="0" err="1"/>
              <a:t>operações</a:t>
            </a:r>
            <a:r>
              <a:rPr lang="en-US" dirty="0"/>
              <a:t> </a:t>
            </a:r>
            <a:r>
              <a:rPr lang="en-US" dirty="0" err="1"/>
              <a:t>numéricas</a:t>
            </a:r>
            <a:r>
              <a:rPr lang="en-US" dirty="0"/>
              <a:t>)</a:t>
            </a:r>
          </a:p>
          <a:p>
            <a:pPr marL="228600" lvl="1" indent="-228600">
              <a:buFont typeface=""/>
              <a:buChar char="•"/>
            </a:pPr>
            <a:r>
              <a:rPr lang="en-US" dirty="0"/>
              <a:t>Scikit-learn (machine learning)</a:t>
            </a:r>
          </a:p>
          <a:p>
            <a:pPr marL="228600" lvl="1" indent="-228600">
              <a:buFont typeface=""/>
              <a:buChar char="•"/>
            </a:pPr>
            <a:r>
              <a:rPr lang="en-US" dirty="0"/>
              <a:t>Matplotlib / Seaborn (</a:t>
            </a:r>
            <a:r>
              <a:rPr lang="en-US" dirty="0" err="1"/>
              <a:t>gráficos</a:t>
            </a:r>
            <a:r>
              <a:rPr lang="en-US" dirty="0"/>
              <a:t> e </a:t>
            </a:r>
            <a:r>
              <a:rPr lang="en-US" dirty="0" err="1"/>
              <a:t>análises</a:t>
            </a:r>
            <a:r>
              <a:rPr lang="en-US" dirty="0"/>
              <a:t>)</a:t>
            </a:r>
          </a:p>
          <a:p>
            <a:r>
              <a:rPr lang="en-US" b="1" dirty="0" err="1"/>
              <a:t>Ambiente</a:t>
            </a:r>
            <a:r>
              <a:rPr lang="en-US" b="1" dirty="0"/>
              <a:t> de </a:t>
            </a:r>
            <a:r>
              <a:rPr lang="en-US" b="1" dirty="0" err="1"/>
              <a:t>Execução</a:t>
            </a:r>
          </a:p>
          <a:p>
            <a:pPr marL="228600" indent="-228600">
              <a:buFont typeface=""/>
              <a:buChar char="•"/>
            </a:pPr>
            <a:r>
              <a:rPr lang="en-US" b="1" dirty="0"/>
              <a:t>Google Colab</a:t>
            </a:r>
          </a:p>
          <a:p>
            <a:pPr marL="228600" indent="-228600">
              <a:buFont typeface=""/>
              <a:buChar char="•"/>
            </a:pPr>
            <a:r>
              <a:rPr lang="en-US" b="1" dirty="0"/>
              <a:t>Google Drive</a:t>
            </a:r>
            <a:r>
              <a:rPr lang="en-US" dirty="0"/>
              <a:t> (</a:t>
            </a:r>
            <a:r>
              <a:rPr lang="en-US" dirty="0" err="1"/>
              <a:t>armazenamento</a:t>
            </a:r>
            <a:r>
              <a:rPr lang="en-US" dirty="0"/>
              <a:t> e </a:t>
            </a:r>
            <a:r>
              <a:rPr lang="en-US" dirty="0" err="1"/>
              <a:t>integração</a:t>
            </a:r>
            <a:r>
              <a:rPr lang="en-US" dirty="0"/>
              <a:t>)</a:t>
            </a:r>
          </a:p>
          <a:p>
            <a:pPr marL="228600" indent="-228600">
              <a:buFont typeface=""/>
              <a:buChar char="•"/>
            </a:pPr>
            <a:r>
              <a:rPr lang="en-US" dirty="0" err="1"/>
              <a:t>Ambiente</a:t>
            </a:r>
            <a:r>
              <a:rPr lang="en-US" dirty="0"/>
              <a:t> Web (para </a:t>
            </a:r>
            <a:r>
              <a:rPr lang="en-US" dirty="0" err="1"/>
              <a:t>visualização</a:t>
            </a:r>
            <a:r>
              <a:rPr lang="en-US" dirty="0"/>
              <a:t> e testes)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4709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1150913F-40A3-11F4-5A62-11FEC18AC9FC}"/>
              </a:ext>
            </a:extLst>
          </p:cNvPr>
          <p:cNvSpPr txBox="1"/>
          <p:nvPr/>
        </p:nvSpPr>
        <p:spPr>
          <a:xfrm>
            <a:off x="1682151" y="1933756"/>
            <a:ext cx="8367622" cy="37548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rtl="0">
              <a:lnSpc>
                <a:spcPts val="1125"/>
              </a:lnSpc>
            </a:pPr>
            <a:r>
              <a:rPr lang="en-US" sz="1800" b="1" baseline="0" dirty="0">
                <a:latin typeface="Century Gothic"/>
                <a:ea typeface="Segoe UI"/>
                <a:cs typeface="Segoe UI"/>
              </a:rPr>
              <a:t>Banco de Dados</a:t>
            </a:r>
            <a:r>
              <a:rPr lang="en-US" sz="1800" dirty="0">
                <a:latin typeface="Century Gothic"/>
                <a:ea typeface="Segoe UI"/>
                <a:cs typeface="Segoe UI"/>
              </a:rPr>
              <a:t>​</a:t>
            </a:r>
          </a:p>
          <a:p>
            <a:pPr>
              <a:lnSpc>
                <a:spcPts val="1125"/>
              </a:lnSpc>
            </a:pPr>
            <a:endParaRPr lang="en-US" dirty="0">
              <a:latin typeface="Century Gothic"/>
              <a:ea typeface="Arial"/>
              <a:cs typeface="Segoe UI"/>
            </a:endParaRPr>
          </a:p>
          <a:p>
            <a:pPr marL="228600" lvl="0" indent="-228600" rtl="0">
              <a:lnSpc>
                <a:spcPts val="1125"/>
              </a:lnSpc>
              <a:buFont typeface=""/>
              <a:buChar char="•"/>
            </a:pPr>
            <a:r>
              <a:rPr lang="en-US" sz="1800" b="1" baseline="0" dirty="0">
                <a:latin typeface="Century Gothic"/>
                <a:ea typeface="Arial"/>
                <a:cs typeface="Arial"/>
              </a:rPr>
              <a:t>MySQL</a:t>
            </a:r>
            <a:r>
              <a:rPr lang="en-US" sz="1800" dirty="0">
                <a:latin typeface="Century Gothic"/>
                <a:ea typeface="Arial"/>
                <a:cs typeface="Arial"/>
              </a:rPr>
              <a:t>​</a:t>
            </a:r>
          </a:p>
          <a:p>
            <a:pPr marL="228600" lvl="1" indent="-228600" rtl="0">
              <a:lnSpc>
                <a:spcPts val="1125"/>
              </a:lnSpc>
              <a:buFont typeface=""/>
              <a:buChar char="•"/>
            </a:pPr>
            <a:r>
              <a:rPr lang="en-US" sz="1800" baseline="0" dirty="0">
                <a:latin typeface="Century Gothic"/>
                <a:ea typeface="Arial"/>
                <a:cs typeface="Arial"/>
              </a:rPr>
              <a:t>Armazena </a:t>
            </a:r>
            <a:r>
              <a:rPr lang="en-US" sz="1800" baseline="0" err="1">
                <a:latin typeface="Century Gothic"/>
                <a:ea typeface="Arial"/>
                <a:cs typeface="Arial"/>
              </a:rPr>
              <a:t>serviços</a:t>
            </a:r>
            <a:r>
              <a:rPr lang="en-US" sz="1800" baseline="0" dirty="0">
                <a:latin typeface="Century Gothic"/>
                <a:ea typeface="Arial"/>
                <a:cs typeface="Arial"/>
              </a:rPr>
              <a:t>, </a:t>
            </a:r>
            <a:r>
              <a:rPr lang="en-US" sz="1800" baseline="0" err="1">
                <a:latin typeface="Century Gothic"/>
                <a:ea typeface="Arial"/>
                <a:cs typeface="Arial"/>
              </a:rPr>
              <a:t>clientes</a:t>
            </a:r>
            <a:r>
              <a:rPr lang="en-US" sz="1800" baseline="0" dirty="0">
                <a:latin typeface="Century Gothic"/>
                <a:ea typeface="Arial"/>
                <a:cs typeface="Arial"/>
              </a:rPr>
              <a:t>, estoque, </a:t>
            </a:r>
            <a:r>
              <a:rPr lang="en-US" sz="1800" baseline="0" err="1">
                <a:latin typeface="Century Gothic"/>
                <a:ea typeface="Arial"/>
                <a:cs typeface="Arial"/>
              </a:rPr>
              <a:t>finanças</a:t>
            </a:r>
            <a:r>
              <a:rPr lang="en-US" sz="1800" dirty="0">
                <a:latin typeface="Century Gothic"/>
                <a:ea typeface="Arial"/>
                <a:cs typeface="Arial"/>
              </a:rPr>
              <a:t>​</a:t>
            </a:r>
          </a:p>
          <a:p>
            <a:pPr marL="228600" lvl="1" indent="-228600">
              <a:lnSpc>
                <a:spcPts val="1125"/>
              </a:lnSpc>
              <a:buFont typeface=""/>
              <a:buChar char="•"/>
            </a:pPr>
            <a:endParaRPr lang="en-US" dirty="0">
              <a:latin typeface="Century Gothic"/>
              <a:ea typeface="Arial"/>
              <a:cs typeface="Arial"/>
            </a:endParaRPr>
          </a:p>
          <a:p>
            <a:pPr marL="228600" lvl="1" indent="-228600" rtl="0">
              <a:lnSpc>
                <a:spcPts val="1125"/>
              </a:lnSpc>
              <a:buFont typeface=""/>
              <a:buChar char="•"/>
            </a:pPr>
            <a:r>
              <a:rPr lang="en-US" sz="1800" baseline="0" err="1">
                <a:latin typeface="Century Gothic"/>
                <a:ea typeface="Arial"/>
                <a:cs typeface="Arial"/>
              </a:rPr>
              <a:t>Integração</a:t>
            </a:r>
            <a:r>
              <a:rPr lang="en-US" sz="1800" baseline="0" dirty="0">
                <a:latin typeface="Century Gothic"/>
                <a:ea typeface="Arial"/>
                <a:cs typeface="Arial"/>
              </a:rPr>
              <a:t> </a:t>
            </a:r>
            <a:r>
              <a:rPr lang="en-US" sz="1800" baseline="0" err="1">
                <a:latin typeface="Century Gothic"/>
                <a:ea typeface="Arial"/>
                <a:cs typeface="Arial"/>
              </a:rPr>
              <a:t>direta</a:t>
            </a:r>
            <a:r>
              <a:rPr lang="en-US" sz="1800" baseline="0" dirty="0">
                <a:latin typeface="Century Gothic"/>
                <a:ea typeface="Arial"/>
                <a:cs typeface="Arial"/>
              </a:rPr>
              <a:t> com o </a:t>
            </a:r>
            <a:r>
              <a:rPr lang="en-US" sz="1800" baseline="0" err="1">
                <a:latin typeface="Century Gothic"/>
                <a:ea typeface="Arial"/>
                <a:cs typeface="Arial"/>
              </a:rPr>
              <a:t>sistema</a:t>
            </a:r>
            <a:r>
              <a:rPr lang="en-US" sz="1800" baseline="0" dirty="0">
                <a:latin typeface="Century Gothic"/>
                <a:ea typeface="Arial"/>
                <a:cs typeface="Arial"/>
              </a:rPr>
              <a:t> da </a:t>
            </a:r>
            <a:r>
              <a:rPr lang="en-US" sz="1800" baseline="0" err="1">
                <a:latin typeface="Century Gothic"/>
                <a:ea typeface="Arial"/>
                <a:cs typeface="Arial"/>
              </a:rPr>
              <a:t>oficina</a:t>
            </a:r>
            <a:r>
              <a:rPr lang="en-US" sz="1800" dirty="0">
                <a:latin typeface="Century Gothic"/>
                <a:ea typeface="Arial"/>
                <a:cs typeface="Arial"/>
              </a:rPr>
              <a:t>​</a:t>
            </a:r>
          </a:p>
          <a:p>
            <a:pPr marL="228600" lvl="1" indent="-228600">
              <a:lnSpc>
                <a:spcPts val="1125"/>
              </a:lnSpc>
              <a:buFont typeface=""/>
              <a:buChar char="•"/>
            </a:pPr>
            <a:endParaRPr lang="en-US" dirty="0">
              <a:latin typeface="Century Gothic"/>
              <a:ea typeface="Segoe UI"/>
              <a:cs typeface="Arial"/>
            </a:endParaRPr>
          </a:p>
          <a:p>
            <a:pPr rtl="0">
              <a:lnSpc>
                <a:spcPts val="1125"/>
              </a:lnSpc>
            </a:pPr>
            <a:r>
              <a:rPr lang="en-US" sz="1800" b="1" baseline="0" dirty="0">
                <a:latin typeface="Century Gothic"/>
                <a:ea typeface="Segoe UI"/>
                <a:cs typeface="Segoe UI"/>
              </a:rPr>
              <a:t>Interface e </a:t>
            </a:r>
            <a:r>
              <a:rPr lang="en-US" sz="1800" b="1" baseline="0" dirty="0" err="1">
                <a:latin typeface="Century Gothic"/>
                <a:ea typeface="Segoe UI"/>
                <a:cs typeface="Segoe UI"/>
              </a:rPr>
              <a:t>Visualização</a:t>
            </a:r>
            <a:r>
              <a:rPr lang="en-US" sz="1800" dirty="0">
                <a:latin typeface="Century Gothic"/>
                <a:ea typeface="Segoe UI"/>
                <a:cs typeface="Segoe UI"/>
              </a:rPr>
              <a:t>​</a:t>
            </a:r>
          </a:p>
          <a:p>
            <a:pPr>
              <a:lnSpc>
                <a:spcPts val="1125"/>
              </a:lnSpc>
            </a:pPr>
            <a:endParaRPr lang="en-US" dirty="0">
              <a:latin typeface="Century Gothic"/>
              <a:ea typeface="Arial"/>
              <a:cs typeface="Segoe UI"/>
            </a:endParaRPr>
          </a:p>
          <a:p>
            <a:pPr marL="228600" lvl="0" indent="-228600" rtl="0">
              <a:lnSpc>
                <a:spcPts val="1125"/>
              </a:lnSpc>
              <a:buFont typeface=""/>
              <a:buChar char="•"/>
            </a:pPr>
            <a:r>
              <a:rPr lang="en-US" sz="1800" b="1" baseline="0" dirty="0" err="1">
                <a:latin typeface="Century Gothic"/>
                <a:ea typeface="Arial"/>
                <a:cs typeface="Arial"/>
              </a:rPr>
              <a:t>Streamlit</a:t>
            </a:r>
            <a:r>
              <a:rPr lang="en-US" sz="1800" dirty="0">
                <a:latin typeface="Century Gothic"/>
                <a:ea typeface="Arial"/>
                <a:cs typeface="Arial"/>
              </a:rPr>
              <a:t>​</a:t>
            </a:r>
          </a:p>
          <a:p>
            <a:pPr marL="228600" lvl="1" indent="-228600" rtl="0">
              <a:lnSpc>
                <a:spcPts val="1125"/>
              </a:lnSpc>
              <a:buFont typeface=""/>
              <a:buChar char="•"/>
            </a:pPr>
            <a:r>
              <a:rPr lang="en-US" sz="1800" baseline="0" dirty="0">
                <a:latin typeface="Century Gothic"/>
                <a:ea typeface="Arial"/>
                <a:cs typeface="Arial"/>
              </a:rPr>
              <a:t>Dashboard </a:t>
            </a:r>
            <a:r>
              <a:rPr lang="en-US" sz="1800" baseline="0" dirty="0" err="1">
                <a:latin typeface="Century Gothic"/>
                <a:ea typeface="Arial"/>
                <a:cs typeface="Arial"/>
              </a:rPr>
              <a:t>em</a:t>
            </a:r>
            <a:r>
              <a:rPr lang="en-US" sz="1800" baseline="0" dirty="0">
                <a:latin typeface="Century Gothic"/>
                <a:ea typeface="Arial"/>
                <a:cs typeface="Arial"/>
              </a:rPr>
              <a:t> tempo real</a:t>
            </a:r>
            <a:r>
              <a:rPr lang="en-US" sz="1800" dirty="0">
                <a:latin typeface="Century Gothic"/>
                <a:ea typeface="Arial"/>
                <a:cs typeface="Arial"/>
              </a:rPr>
              <a:t>​</a:t>
            </a:r>
          </a:p>
          <a:p>
            <a:pPr marL="228600" lvl="1" indent="-228600">
              <a:lnSpc>
                <a:spcPts val="1125"/>
              </a:lnSpc>
              <a:buFont typeface=""/>
              <a:buChar char="•"/>
            </a:pPr>
            <a:endParaRPr lang="en-US" dirty="0">
              <a:latin typeface="Century Gothic"/>
              <a:ea typeface="Arial"/>
              <a:cs typeface="Arial"/>
            </a:endParaRPr>
          </a:p>
          <a:p>
            <a:pPr marL="228600" lvl="1" indent="-228600" rtl="0">
              <a:lnSpc>
                <a:spcPts val="1125"/>
              </a:lnSpc>
              <a:buFont typeface=""/>
              <a:buChar char="•"/>
            </a:pPr>
            <a:r>
              <a:rPr lang="en-US" sz="1800" baseline="0" dirty="0">
                <a:latin typeface="Century Gothic"/>
                <a:ea typeface="Arial"/>
                <a:cs typeface="Arial"/>
              </a:rPr>
              <a:t>KPIs, </a:t>
            </a:r>
            <a:r>
              <a:rPr lang="en-US" sz="1800" baseline="0" err="1">
                <a:latin typeface="Century Gothic"/>
                <a:ea typeface="Arial"/>
                <a:cs typeface="Arial"/>
              </a:rPr>
              <a:t>gráficos</a:t>
            </a:r>
            <a:r>
              <a:rPr lang="en-US" sz="1800" baseline="0" dirty="0">
                <a:latin typeface="Century Gothic"/>
                <a:ea typeface="Arial"/>
                <a:cs typeface="Arial"/>
              </a:rPr>
              <a:t> e </a:t>
            </a:r>
            <a:r>
              <a:rPr lang="en-US" sz="1800" baseline="0" err="1">
                <a:latin typeface="Century Gothic"/>
                <a:ea typeface="Arial"/>
                <a:cs typeface="Arial"/>
              </a:rPr>
              <a:t>indicadores</a:t>
            </a:r>
            <a:r>
              <a:rPr lang="en-US" sz="1800" baseline="0" dirty="0">
                <a:latin typeface="Century Gothic"/>
                <a:ea typeface="Arial"/>
                <a:cs typeface="Arial"/>
              </a:rPr>
              <a:t> </a:t>
            </a:r>
            <a:r>
              <a:rPr lang="en-US" sz="1800" baseline="0" err="1">
                <a:latin typeface="Century Gothic"/>
                <a:ea typeface="Arial"/>
                <a:cs typeface="Arial"/>
              </a:rPr>
              <a:t>operacionais</a:t>
            </a:r>
            <a:r>
              <a:rPr lang="en-US" sz="1800" dirty="0">
                <a:latin typeface="Century Gothic"/>
                <a:ea typeface="Arial"/>
                <a:cs typeface="Arial"/>
              </a:rPr>
              <a:t>​</a:t>
            </a:r>
          </a:p>
          <a:p>
            <a:pPr marL="228600" lvl="1" indent="-228600">
              <a:lnSpc>
                <a:spcPts val="1125"/>
              </a:lnSpc>
              <a:buFont typeface=""/>
              <a:buChar char="•"/>
            </a:pPr>
            <a:endParaRPr lang="en-US" dirty="0">
              <a:latin typeface="Century Gothic"/>
              <a:ea typeface="Arial"/>
              <a:cs typeface="Arial"/>
            </a:endParaRPr>
          </a:p>
          <a:p>
            <a:pPr marL="228600" lvl="1" indent="-228600" rtl="0">
              <a:lnSpc>
                <a:spcPts val="1125"/>
              </a:lnSpc>
              <a:buFont typeface=""/>
              <a:buChar char="•"/>
            </a:pPr>
            <a:r>
              <a:rPr lang="en-US" sz="1800" baseline="0" dirty="0">
                <a:latin typeface="Century Gothic"/>
                <a:ea typeface="Arial"/>
                <a:cs typeface="Arial"/>
              </a:rPr>
              <a:t>Interface moderna e </a:t>
            </a:r>
            <a:r>
              <a:rPr lang="en-US" sz="1800" baseline="0" err="1">
                <a:latin typeface="Century Gothic"/>
                <a:ea typeface="Arial"/>
                <a:cs typeface="Arial"/>
              </a:rPr>
              <a:t>acessível</a:t>
            </a:r>
            <a:r>
              <a:rPr lang="en-US" sz="1800" dirty="0">
                <a:latin typeface="Century Gothic"/>
                <a:ea typeface="Arial"/>
                <a:cs typeface="Arial"/>
              </a:rPr>
              <a:t>​</a:t>
            </a:r>
          </a:p>
          <a:p>
            <a:pPr marL="228600" lvl="1" indent="-228600">
              <a:lnSpc>
                <a:spcPts val="1125"/>
              </a:lnSpc>
              <a:buFont typeface=""/>
              <a:buChar char="•"/>
            </a:pPr>
            <a:endParaRPr lang="en-US" dirty="0">
              <a:latin typeface="Century Gothic"/>
              <a:ea typeface="Segoe UI"/>
              <a:cs typeface="Arial"/>
            </a:endParaRPr>
          </a:p>
          <a:p>
            <a:pPr rtl="0">
              <a:lnSpc>
                <a:spcPts val="1125"/>
              </a:lnSpc>
            </a:pPr>
            <a:r>
              <a:rPr lang="en-US" sz="1800" b="1" baseline="0" dirty="0">
                <a:latin typeface="Century Gothic"/>
                <a:ea typeface="Segoe UI"/>
                <a:cs typeface="Segoe UI"/>
              </a:rPr>
              <a:t>Controle de </a:t>
            </a:r>
            <a:r>
              <a:rPr lang="en-US" sz="1800" b="1" baseline="0" dirty="0" err="1">
                <a:latin typeface="Century Gothic"/>
                <a:ea typeface="Segoe UI"/>
                <a:cs typeface="Segoe UI"/>
              </a:rPr>
              <a:t>Versão</a:t>
            </a:r>
            <a:r>
              <a:rPr lang="en-US" sz="1800" dirty="0">
                <a:latin typeface="Century Gothic"/>
                <a:ea typeface="Segoe UI"/>
                <a:cs typeface="Segoe UI"/>
              </a:rPr>
              <a:t>​</a:t>
            </a:r>
          </a:p>
          <a:p>
            <a:pPr>
              <a:lnSpc>
                <a:spcPts val="1125"/>
              </a:lnSpc>
            </a:pPr>
            <a:endParaRPr lang="en-US" dirty="0">
              <a:latin typeface="Century Gothic"/>
              <a:ea typeface="Arial"/>
              <a:cs typeface="Segoe UI"/>
            </a:endParaRPr>
          </a:p>
          <a:p>
            <a:pPr marL="228600" lvl="0" indent="-228600" rtl="0">
              <a:lnSpc>
                <a:spcPts val="1125"/>
              </a:lnSpc>
              <a:buFont typeface=""/>
              <a:buChar char="•"/>
            </a:pPr>
            <a:r>
              <a:rPr lang="en-US" sz="1800" b="1" baseline="0" dirty="0">
                <a:latin typeface="Century Gothic"/>
                <a:ea typeface="Arial"/>
                <a:cs typeface="Arial"/>
              </a:rPr>
              <a:t>GitHub</a:t>
            </a:r>
            <a:r>
              <a:rPr lang="en-US" sz="1800" dirty="0">
                <a:latin typeface="Century Gothic"/>
                <a:ea typeface="Arial"/>
                <a:cs typeface="Arial"/>
              </a:rPr>
              <a:t>​</a:t>
            </a:r>
          </a:p>
          <a:p>
            <a:pPr marL="228600" indent="-228600">
              <a:lnSpc>
                <a:spcPts val="1125"/>
              </a:lnSpc>
              <a:buFont typeface=""/>
              <a:buChar char="•"/>
            </a:pPr>
            <a:endParaRPr lang="en-US" dirty="0">
              <a:latin typeface="Century Gothic"/>
              <a:ea typeface="Arial"/>
              <a:cs typeface="Arial"/>
            </a:endParaRPr>
          </a:p>
          <a:p>
            <a:pPr marL="228600" lvl="1" indent="-228600" rtl="0">
              <a:lnSpc>
                <a:spcPts val="1125"/>
              </a:lnSpc>
              <a:buFont typeface=""/>
              <a:buChar char="•"/>
            </a:pPr>
            <a:r>
              <a:rPr lang="en-US" sz="1800" baseline="0" err="1">
                <a:latin typeface="Century Gothic"/>
                <a:ea typeface="Arial"/>
                <a:cs typeface="Arial"/>
              </a:rPr>
              <a:t>Repositório</a:t>
            </a:r>
            <a:r>
              <a:rPr lang="en-US" sz="1800" baseline="0" dirty="0">
                <a:latin typeface="Century Gothic"/>
                <a:ea typeface="Arial"/>
                <a:cs typeface="Arial"/>
              </a:rPr>
              <a:t> com </a:t>
            </a:r>
            <a:r>
              <a:rPr lang="en-US" sz="1800" baseline="0" err="1">
                <a:latin typeface="Century Gothic"/>
                <a:ea typeface="Arial"/>
                <a:cs typeface="Arial"/>
              </a:rPr>
              <a:t>código-fonte</a:t>
            </a:r>
            <a:r>
              <a:rPr lang="en-US" sz="1800" dirty="0">
                <a:latin typeface="Century Gothic"/>
                <a:ea typeface="Arial"/>
                <a:cs typeface="Arial"/>
              </a:rPr>
              <a:t>​</a:t>
            </a:r>
          </a:p>
          <a:p>
            <a:pPr marL="228600" lvl="1" indent="-228600">
              <a:lnSpc>
                <a:spcPts val="1125"/>
              </a:lnSpc>
              <a:buFont typeface=""/>
              <a:buChar char="•"/>
            </a:pPr>
            <a:endParaRPr lang="en-US" dirty="0">
              <a:latin typeface="Century Gothic"/>
              <a:ea typeface="Arial"/>
              <a:cs typeface="Arial"/>
            </a:endParaRPr>
          </a:p>
          <a:p>
            <a:pPr marL="228600" lvl="1" indent="-228600" rtl="0">
              <a:lnSpc>
                <a:spcPts val="1125"/>
              </a:lnSpc>
              <a:buFont typeface=""/>
              <a:buChar char="•"/>
            </a:pPr>
            <a:r>
              <a:rPr lang="en-US" sz="1800" baseline="0" dirty="0" err="1">
                <a:latin typeface="Century Gothic"/>
                <a:ea typeface="Arial"/>
                <a:cs typeface="Arial"/>
              </a:rPr>
              <a:t>Versionamento</a:t>
            </a:r>
            <a:r>
              <a:rPr lang="en-US" sz="1800" baseline="0" dirty="0">
                <a:latin typeface="Century Gothic"/>
                <a:ea typeface="Arial"/>
                <a:cs typeface="Arial"/>
              </a:rPr>
              <a:t> e </a:t>
            </a:r>
            <a:r>
              <a:rPr lang="en-US" sz="1800" baseline="0" dirty="0" err="1">
                <a:latin typeface="Century Gothic"/>
                <a:ea typeface="Arial"/>
                <a:cs typeface="Arial"/>
              </a:rPr>
              <a:t>colaboração</a:t>
            </a:r>
            <a:r>
              <a:rPr lang="en-US" sz="1800" baseline="0" dirty="0">
                <a:latin typeface="Century Gothic"/>
                <a:ea typeface="Arial"/>
                <a:cs typeface="Arial"/>
              </a:rPr>
              <a:t> entre </a:t>
            </a:r>
            <a:r>
              <a:rPr lang="en-US" sz="1800" baseline="0" dirty="0" err="1">
                <a:latin typeface="Century Gothic"/>
                <a:ea typeface="Arial"/>
                <a:cs typeface="Arial"/>
              </a:rPr>
              <a:t>os</a:t>
            </a:r>
            <a:r>
              <a:rPr lang="en-US" sz="1800" baseline="0" dirty="0">
                <a:latin typeface="Century Gothic"/>
                <a:ea typeface="Arial"/>
                <a:cs typeface="Arial"/>
              </a:rPr>
              <a:t> </a:t>
            </a:r>
            <a:r>
              <a:rPr lang="en-US" sz="1800" baseline="0" dirty="0" err="1">
                <a:latin typeface="Century Gothic"/>
                <a:ea typeface="Arial"/>
                <a:cs typeface="Arial"/>
              </a:rPr>
              <a:t>integrantes</a:t>
            </a:r>
            <a:r>
              <a:rPr lang="en-US" sz="1800" dirty="0">
                <a:latin typeface="Century Gothic"/>
                <a:ea typeface="Arial"/>
                <a:cs typeface="Arial"/>
              </a:rPr>
              <a:t>​</a:t>
            </a:r>
          </a:p>
          <a:p>
            <a:pPr algn="ctr" rtl="0">
              <a:lnSpc>
                <a:spcPts val="1125"/>
              </a:lnSpc>
            </a:pPr>
            <a:r>
              <a:rPr lang="pt-BR" sz="1800" dirty="0">
                <a:latin typeface="Century Gothic"/>
                <a:ea typeface="Segoe UI"/>
                <a:cs typeface="Segoe UI"/>
              </a:rPr>
              <a:t>​</a:t>
            </a:r>
          </a:p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955386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3F4C104D-5F30-4811-9376-566B26E471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786"/>
            <a:ext cx="12192000" cy="68540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C4713BE9-F5E5-3A9E-F758-21B4657449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645106"/>
            <a:ext cx="3650279" cy="1259894"/>
          </a:xfrm>
        </p:spPr>
        <p:txBody>
          <a:bodyPr>
            <a:normAutofit/>
          </a:bodyPr>
          <a:lstStyle/>
          <a:p>
            <a:r>
              <a:rPr lang="pt-BR" dirty="0">
                <a:ea typeface="+mj-lt"/>
                <a:cs typeface="+mj-lt"/>
              </a:rPr>
              <a:t>ARQUITETURA DO SISTEMA</a:t>
            </a:r>
            <a:endParaRPr lang="pt-B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815E34B-5D02-4E01-A936-E8E1C0AB6F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BDC5046-B43D-68F8-4308-CCDBD7214B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5" y="2133600"/>
            <a:ext cx="3650278" cy="375925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 dirty="0">
                <a:ea typeface="+mn-lt"/>
                <a:cs typeface="+mn-lt"/>
              </a:rPr>
              <a:t>Coleta de dados →</a:t>
            </a:r>
            <a:endParaRPr lang="pt-BR" dirty="0"/>
          </a:p>
          <a:p>
            <a:r>
              <a:rPr lang="pt-BR" dirty="0">
                <a:ea typeface="+mn-lt"/>
                <a:cs typeface="+mn-lt"/>
              </a:rPr>
              <a:t>Processamento no Python →</a:t>
            </a:r>
            <a:endParaRPr lang="pt-BR" dirty="0"/>
          </a:p>
          <a:p>
            <a:r>
              <a:rPr lang="pt-BR" dirty="0">
                <a:ea typeface="+mn-lt"/>
                <a:cs typeface="+mn-lt"/>
              </a:rPr>
              <a:t>Modelos de ML →</a:t>
            </a:r>
            <a:endParaRPr lang="pt-BR" dirty="0"/>
          </a:p>
          <a:p>
            <a:r>
              <a:rPr lang="pt-BR" dirty="0">
                <a:ea typeface="+mn-lt"/>
                <a:cs typeface="+mn-lt"/>
              </a:rPr>
              <a:t>Salvamento no MySQL →</a:t>
            </a:r>
            <a:endParaRPr lang="pt-BR" dirty="0"/>
          </a:p>
          <a:p>
            <a:r>
              <a:rPr lang="pt-BR" dirty="0">
                <a:ea typeface="+mn-lt"/>
                <a:cs typeface="+mn-lt"/>
              </a:rPr>
              <a:t>Dashboard em </a:t>
            </a:r>
            <a:r>
              <a:rPr lang="pt-BR" dirty="0" err="1">
                <a:ea typeface="+mn-lt"/>
                <a:cs typeface="+mn-lt"/>
              </a:rPr>
              <a:t>Streamlit</a:t>
            </a:r>
            <a:r>
              <a:rPr lang="pt-BR" dirty="0">
                <a:ea typeface="+mn-lt"/>
                <a:cs typeface="+mn-lt"/>
              </a:rPr>
              <a:t> →</a:t>
            </a:r>
            <a:endParaRPr lang="pt-BR" dirty="0"/>
          </a:p>
          <a:p>
            <a:r>
              <a:rPr lang="pt-BR" dirty="0">
                <a:ea typeface="+mn-lt"/>
                <a:cs typeface="+mn-lt"/>
              </a:rPr>
              <a:t>Relatórios automáticos em Excel</a:t>
            </a:r>
            <a:endParaRPr lang="pt-BR" dirty="0"/>
          </a:p>
          <a:p>
            <a:pPr marL="0" indent="0">
              <a:buNone/>
            </a:pPr>
            <a:endParaRPr lang="pt-BR" dirty="0"/>
          </a:p>
        </p:txBody>
      </p:sp>
      <p:pic>
        <p:nvPicPr>
          <p:cNvPr id="8" name="Graphic 7" descr="Banco de dados">
            <a:extLst>
              <a:ext uri="{FF2B5EF4-FFF2-40B4-BE49-F238E27FC236}">
                <a16:creationId xmlns:a16="http://schemas.microsoft.com/office/drawing/2014/main" id="{7A94355A-F0AA-FCB6-FE01-D9BAB51271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69945" y="1193532"/>
            <a:ext cx="4699321" cy="4699321"/>
          </a:xfrm>
          <a:prstGeom prst="rect">
            <a:avLst/>
          </a:prstGeom>
        </p:spPr>
      </p:pic>
      <p:sp>
        <p:nvSpPr>
          <p:cNvPr id="15" name="Freeform 11">
            <a:extLst>
              <a:ext uri="{FF2B5EF4-FFF2-40B4-BE49-F238E27FC236}">
                <a16:creationId xmlns:a16="http://schemas.microsoft.com/office/drawing/2014/main" id="{7DE3414B-B032-4710-A468-D3285E38C5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6061223"/>
            <a:ext cx="1038036" cy="506277"/>
          </a:xfrm>
          <a:custGeom>
            <a:avLst/>
            <a:gdLst>
              <a:gd name="connsiteX0" fmla="*/ 0 w 1038036"/>
              <a:gd name="connsiteY0" fmla="*/ 0 h 506277"/>
              <a:gd name="connsiteX1" fmla="*/ 182880 w 1038036"/>
              <a:gd name="connsiteY1" fmla="*/ 0 h 506277"/>
              <a:gd name="connsiteX2" fmla="*/ 291705 w 1038036"/>
              <a:gd name="connsiteY2" fmla="*/ 0 h 506277"/>
              <a:gd name="connsiteX3" fmla="*/ 291705 w 1038036"/>
              <a:gd name="connsiteY3" fmla="*/ 151 h 506277"/>
              <a:gd name="connsiteX4" fmla="*/ 692049 w 1038036"/>
              <a:gd name="connsiteY4" fmla="*/ 705 h 506277"/>
              <a:gd name="connsiteX5" fmla="*/ 782744 w 1038036"/>
              <a:gd name="connsiteY5" fmla="*/ 705 h 506277"/>
              <a:gd name="connsiteX6" fmla="*/ 797001 w 1038036"/>
              <a:gd name="connsiteY6" fmla="*/ 5473 h 506277"/>
              <a:gd name="connsiteX7" fmla="*/ 801982 w 1038036"/>
              <a:gd name="connsiteY7" fmla="*/ 10242 h 506277"/>
              <a:gd name="connsiteX8" fmla="*/ 1030951 w 1038036"/>
              <a:gd name="connsiteY8" fmla="*/ 239185 h 506277"/>
              <a:gd name="connsiteX9" fmla="*/ 1030951 w 1038036"/>
              <a:gd name="connsiteY9" fmla="*/ 267797 h 506277"/>
              <a:gd name="connsiteX10" fmla="*/ 801982 w 1038036"/>
              <a:gd name="connsiteY10" fmla="*/ 496740 h 506277"/>
              <a:gd name="connsiteX11" fmla="*/ 797001 w 1038036"/>
              <a:gd name="connsiteY11" fmla="*/ 501508 h 506277"/>
              <a:gd name="connsiteX12" fmla="*/ 782744 w 1038036"/>
              <a:gd name="connsiteY12" fmla="*/ 506277 h 506277"/>
              <a:gd name="connsiteX13" fmla="*/ 692049 w 1038036"/>
              <a:gd name="connsiteY13" fmla="*/ 506277 h 506277"/>
              <a:gd name="connsiteX14" fmla="*/ 291705 w 1038036"/>
              <a:gd name="connsiteY14" fmla="*/ 505140 h 506277"/>
              <a:gd name="connsiteX15" fmla="*/ 291705 w 1038036"/>
              <a:gd name="connsiteY15" fmla="*/ 506277 h 506277"/>
              <a:gd name="connsiteX16" fmla="*/ 0 w 1038036"/>
              <a:gd name="connsiteY16" fmla="*/ 506277 h 506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038036" h="506277">
                <a:moveTo>
                  <a:pt x="0" y="0"/>
                </a:moveTo>
                <a:lnTo>
                  <a:pt x="182880" y="0"/>
                </a:lnTo>
                <a:lnTo>
                  <a:pt x="291705" y="0"/>
                </a:lnTo>
                <a:lnTo>
                  <a:pt x="291705" y="151"/>
                </a:lnTo>
                <a:lnTo>
                  <a:pt x="692049" y="705"/>
                </a:lnTo>
                <a:lnTo>
                  <a:pt x="782744" y="705"/>
                </a:lnTo>
                <a:cubicBezTo>
                  <a:pt x="787553" y="705"/>
                  <a:pt x="792363" y="5473"/>
                  <a:pt x="797001" y="5473"/>
                </a:cubicBezTo>
                <a:cubicBezTo>
                  <a:pt x="797001" y="10242"/>
                  <a:pt x="801982" y="10242"/>
                  <a:pt x="801982" y="10242"/>
                </a:cubicBezTo>
                <a:lnTo>
                  <a:pt x="1030951" y="239185"/>
                </a:lnTo>
                <a:cubicBezTo>
                  <a:pt x="1040398" y="248722"/>
                  <a:pt x="1040398" y="258259"/>
                  <a:pt x="1030951" y="267797"/>
                </a:cubicBezTo>
                <a:lnTo>
                  <a:pt x="801982" y="496740"/>
                </a:lnTo>
                <a:cubicBezTo>
                  <a:pt x="800436" y="498363"/>
                  <a:pt x="798547" y="499885"/>
                  <a:pt x="797001" y="501508"/>
                </a:cubicBezTo>
                <a:cubicBezTo>
                  <a:pt x="792363" y="506277"/>
                  <a:pt x="787553" y="506277"/>
                  <a:pt x="782744" y="506277"/>
                </a:cubicBezTo>
                <a:lnTo>
                  <a:pt x="692049" y="506277"/>
                </a:lnTo>
                <a:lnTo>
                  <a:pt x="291705" y="505140"/>
                </a:lnTo>
                <a:lnTo>
                  <a:pt x="291705" y="506277"/>
                </a:lnTo>
                <a:lnTo>
                  <a:pt x="0" y="506277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86399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A44C337-3893-4B29-A265-B1329150B6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7620" y="-1"/>
            <a:ext cx="1220724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1E0B358-1267-4844-8B3D-B7A279B417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836169" y="228600"/>
            <a:ext cx="2851523" cy="6638625"/>
            <a:chOff x="2487613" y="285750"/>
            <a:chExt cx="2428875" cy="5654676"/>
          </a:xfrm>
        </p:grpSpPr>
        <p:sp>
          <p:nvSpPr>
            <p:cNvPr id="13" name="Freeform 11">
              <a:extLst>
                <a:ext uri="{FF2B5EF4-FFF2-40B4-BE49-F238E27FC236}">
                  <a16:creationId xmlns:a16="http://schemas.microsoft.com/office/drawing/2014/main" id="{B24AA06A-F1A5-4BB3-9486-9AE7A53B3F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4" name="Freeform 12">
              <a:extLst>
                <a:ext uri="{FF2B5EF4-FFF2-40B4-BE49-F238E27FC236}">
                  <a16:creationId xmlns:a16="http://schemas.microsoft.com/office/drawing/2014/main" id="{BDF97590-C600-44CB-9303-4A3679F516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5" name="Freeform 13">
              <a:extLst>
                <a:ext uri="{FF2B5EF4-FFF2-40B4-BE49-F238E27FC236}">
                  <a16:creationId xmlns:a16="http://schemas.microsoft.com/office/drawing/2014/main" id="{A9BBE156-3FFA-4DC4-8468-35BD28DDC6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6" name="Freeform 14">
              <a:extLst>
                <a:ext uri="{FF2B5EF4-FFF2-40B4-BE49-F238E27FC236}">
                  <a16:creationId xmlns:a16="http://schemas.microsoft.com/office/drawing/2014/main" id="{F7960DE5-3810-4B1E-B1E2-3BAFEA91ED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7" name="Freeform 15">
              <a:extLst>
                <a:ext uri="{FF2B5EF4-FFF2-40B4-BE49-F238E27FC236}">
                  <a16:creationId xmlns:a16="http://schemas.microsoft.com/office/drawing/2014/main" id="{359E957C-CE11-446F-8AA7-B3E98390B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8" name="Freeform 16">
              <a:extLst>
                <a:ext uri="{FF2B5EF4-FFF2-40B4-BE49-F238E27FC236}">
                  <a16:creationId xmlns:a16="http://schemas.microsoft.com/office/drawing/2014/main" id="{A3E9FE34-CA9E-4443-BEBF-D1B9A1C6C2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9" name="Freeform 17">
              <a:extLst>
                <a:ext uri="{FF2B5EF4-FFF2-40B4-BE49-F238E27FC236}">
                  <a16:creationId xmlns:a16="http://schemas.microsoft.com/office/drawing/2014/main" id="{4F39D814-8A48-4509-BDEB-826F106591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0" name="Freeform 18">
              <a:extLst>
                <a:ext uri="{FF2B5EF4-FFF2-40B4-BE49-F238E27FC236}">
                  <a16:creationId xmlns:a16="http://schemas.microsoft.com/office/drawing/2014/main" id="{8C6D08C0-8C49-4B87-9CF4-A1F08714FA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1" name="Freeform 19">
              <a:extLst>
                <a:ext uri="{FF2B5EF4-FFF2-40B4-BE49-F238E27FC236}">
                  <a16:creationId xmlns:a16="http://schemas.microsoft.com/office/drawing/2014/main" id="{308C612B-4C0D-4863-B9CD-F86ABAA1B2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2" name="Freeform 20">
              <a:extLst>
                <a:ext uri="{FF2B5EF4-FFF2-40B4-BE49-F238E27FC236}">
                  <a16:creationId xmlns:a16="http://schemas.microsoft.com/office/drawing/2014/main" id="{600B1EC8-1B55-4390-A183-C33B5E2273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3" name="Freeform 21">
              <a:extLst>
                <a:ext uri="{FF2B5EF4-FFF2-40B4-BE49-F238E27FC236}">
                  <a16:creationId xmlns:a16="http://schemas.microsoft.com/office/drawing/2014/main" id="{1790A225-91E1-4BE5-A801-5F1E32721C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4" name="Freeform 22">
              <a:extLst>
                <a:ext uri="{FF2B5EF4-FFF2-40B4-BE49-F238E27FC236}">
                  <a16:creationId xmlns:a16="http://schemas.microsoft.com/office/drawing/2014/main" id="{DFFC46A2-6BBF-47FD-BC17-5EE1DF7CB9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AF44CA9C-80E8-44E1-A79C-D6EBFC73BC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77117" y="-786"/>
            <a:ext cx="2356675" cy="6854040"/>
            <a:chOff x="6627813" y="194833"/>
            <a:chExt cx="1952625" cy="5678918"/>
          </a:xfrm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8CB9417F-98D9-4998-B00B-A5932E4C7D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8" name="Freeform 28">
              <a:extLst>
                <a:ext uri="{FF2B5EF4-FFF2-40B4-BE49-F238E27FC236}">
                  <a16:creationId xmlns:a16="http://schemas.microsoft.com/office/drawing/2014/main" id="{FA79AA3D-583E-4A1E-AF7E-CBD980F596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D80C9F17-A6B2-4A12-BC77-F84264A669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949C9A53-ED97-44CE-BDD5-ED24892116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1" name="Freeform 31">
              <a:extLst>
                <a:ext uri="{FF2B5EF4-FFF2-40B4-BE49-F238E27FC236}">
                  <a16:creationId xmlns:a16="http://schemas.microsoft.com/office/drawing/2014/main" id="{0F9FDAE7-225B-4072-8907-6EAA061744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9D49818B-8EA3-4B41-9783-EFE0C618C3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3" name="Freeform 33">
              <a:extLst>
                <a:ext uri="{FF2B5EF4-FFF2-40B4-BE49-F238E27FC236}">
                  <a16:creationId xmlns:a16="http://schemas.microsoft.com/office/drawing/2014/main" id="{01903E65-D822-4457-B0A5-2F41682241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4" name="Freeform 34">
              <a:extLst>
                <a:ext uri="{FF2B5EF4-FFF2-40B4-BE49-F238E27FC236}">
                  <a16:creationId xmlns:a16="http://schemas.microsoft.com/office/drawing/2014/main" id="{A5CF9DAB-75BF-43D9-B1E7-817D1FAA00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5" name="Freeform 35">
              <a:extLst>
                <a:ext uri="{FF2B5EF4-FFF2-40B4-BE49-F238E27FC236}">
                  <a16:creationId xmlns:a16="http://schemas.microsoft.com/office/drawing/2014/main" id="{BB22916D-4BCF-4A4C-8714-A2564D34C3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4CD9F734-569E-44E7-BD53-6214E0F18C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7" name="Freeform 37">
              <a:extLst>
                <a:ext uri="{FF2B5EF4-FFF2-40B4-BE49-F238E27FC236}">
                  <a16:creationId xmlns:a16="http://schemas.microsoft.com/office/drawing/2014/main" id="{7A5DAACB-2F42-40C8-BF6A-75B79299F9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8" name="Freeform 38">
              <a:extLst>
                <a:ext uri="{FF2B5EF4-FFF2-40B4-BE49-F238E27FC236}">
                  <a16:creationId xmlns:a16="http://schemas.microsoft.com/office/drawing/2014/main" id="{AD78E0F9-8568-4672-A22F-4ED5B1A96F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B7B84A30-8C33-45CE-11F3-0AE5CB94E2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3096" y="624110"/>
            <a:ext cx="5021516" cy="1280890"/>
          </a:xfrm>
        </p:spPr>
        <p:txBody>
          <a:bodyPr>
            <a:normAutofit/>
          </a:bodyPr>
          <a:lstStyle/>
          <a:p>
            <a:r>
              <a:rPr lang="pt-BR" dirty="0">
                <a:ea typeface="+mj-lt"/>
                <a:cs typeface="+mj-lt"/>
              </a:rPr>
              <a:t>BANCO DE DADOS</a:t>
            </a:r>
            <a:endParaRPr lang="pt-BR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AA5CD610-ED7C-4CED-A9A1-174432C88A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45704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2" name="Freeform 11">
            <a:extLst>
              <a:ext uri="{FF2B5EF4-FFF2-40B4-BE49-F238E27FC236}">
                <a16:creationId xmlns:a16="http://schemas.microsoft.com/office/drawing/2014/main" id="{0C4379BF-8C7A-480A-BC36-DA55D92A93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4645704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pic>
        <p:nvPicPr>
          <p:cNvPr id="9" name="Picture 5" descr="Números de ações em uma tela digital">
            <a:extLst>
              <a:ext uri="{FF2B5EF4-FFF2-40B4-BE49-F238E27FC236}">
                <a16:creationId xmlns:a16="http://schemas.microsoft.com/office/drawing/2014/main" id="{E78068AA-85E5-F58D-E25E-2096CA972F5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3156" r="17101" b="2"/>
          <a:stretch>
            <a:fillRect/>
          </a:stretch>
        </p:blipFill>
        <p:spPr>
          <a:xfrm>
            <a:off x="-1555" y="1731"/>
            <a:ext cx="4671091" cy="6858000"/>
          </a:xfrm>
          <a:prstGeom prst="rect">
            <a:avLst/>
          </a:prstGeom>
        </p:spPr>
      </p:pic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D5DF3C1-E98B-990C-2A91-03430147BD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8191" y="2133600"/>
            <a:ext cx="5066419" cy="3777622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pt-BR" b="1" dirty="0">
                <a:ea typeface="+mn-lt"/>
                <a:cs typeface="+mn-lt"/>
              </a:rPr>
              <a:t>Armazena</a:t>
            </a:r>
            <a:r>
              <a:rPr lang="pt-BR" dirty="0">
                <a:ea typeface="+mn-lt"/>
                <a:cs typeface="+mn-lt"/>
              </a:rPr>
              <a:t>:</a:t>
            </a:r>
            <a:endParaRPr lang="pt-BR" dirty="0"/>
          </a:p>
          <a:p>
            <a:r>
              <a:rPr lang="pt-BR" dirty="0">
                <a:ea typeface="+mn-lt"/>
                <a:cs typeface="+mn-lt"/>
              </a:rPr>
              <a:t>Serviços executados</a:t>
            </a:r>
            <a:endParaRPr lang="pt-BR" dirty="0"/>
          </a:p>
          <a:p>
            <a:r>
              <a:rPr lang="pt-BR" dirty="0">
                <a:ea typeface="+mn-lt"/>
                <a:cs typeface="+mn-lt"/>
              </a:rPr>
              <a:t>Dados de clientes</a:t>
            </a:r>
            <a:endParaRPr lang="pt-BR" dirty="0"/>
          </a:p>
          <a:p>
            <a:r>
              <a:rPr lang="pt-BR" dirty="0">
                <a:ea typeface="+mn-lt"/>
                <a:cs typeface="+mn-lt"/>
              </a:rPr>
              <a:t>Estoque e ferramentas</a:t>
            </a:r>
            <a:endParaRPr lang="pt-BR" dirty="0"/>
          </a:p>
          <a:p>
            <a:r>
              <a:rPr lang="pt-BR" dirty="0">
                <a:ea typeface="+mn-lt"/>
                <a:cs typeface="+mn-lt"/>
              </a:rPr>
              <a:t>Informações financeiras</a:t>
            </a:r>
            <a:endParaRPr lang="pt-BR" dirty="0"/>
          </a:p>
          <a:p>
            <a:r>
              <a:rPr lang="pt-BR" dirty="0">
                <a:ea typeface="+mn-lt"/>
                <a:cs typeface="+mn-lt"/>
              </a:rPr>
              <a:t>Histórico de atendimento</a:t>
            </a:r>
            <a:endParaRPr lang="pt-BR" dirty="0"/>
          </a:p>
          <a:p>
            <a:r>
              <a:rPr lang="pt-BR" b="1" dirty="0">
                <a:ea typeface="+mn-lt"/>
                <a:cs typeface="+mn-lt"/>
              </a:rPr>
              <a:t>Organização:</a:t>
            </a:r>
            <a:endParaRPr lang="pt-BR" b="1" dirty="0"/>
          </a:p>
          <a:p>
            <a:r>
              <a:rPr lang="pt-BR" dirty="0">
                <a:ea typeface="+mn-lt"/>
                <a:cs typeface="+mn-lt"/>
              </a:rPr>
              <a:t>Tabelas normalizadas</a:t>
            </a:r>
            <a:endParaRPr lang="pt-BR" dirty="0"/>
          </a:p>
          <a:p>
            <a:r>
              <a:rPr lang="pt-BR" dirty="0">
                <a:ea typeface="+mn-lt"/>
                <a:cs typeface="+mn-lt"/>
              </a:rPr>
              <a:t>Relacionamento entre módulos</a:t>
            </a:r>
            <a:endParaRPr lang="pt-BR" dirty="0"/>
          </a:p>
          <a:p>
            <a:r>
              <a:rPr lang="pt-BR" dirty="0">
                <a:ea typeface="+mn-lt"/>
                <a:cs typeface="+mn-lt"/>
              </a:rPr>
              <a:t>Fácil integração com Python e </a:t>
            </a:r>
            <a:r>
              <a:rPr lang="pt-BR" dirty="0" err="1">
                <a:ea typeface="+mn-lt"/>
                <a:cs typeface="+mn-lt"/>
              </a:rPr>
              <a:t>Streamlit</a:t>
            </a:r>
            <a:endParaRPr lang="pt-BR" dirty="0" err="1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65692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3F4C104D-5F30-4811-9376-566B26E471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786"/>
            <a:ext cx="12192000" cy="68540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DCFDFC9-9C24-FA5F-3434-FB9EB5E38F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645106"/>
            <a:ext cx="3650279" cy="1259894"/>
          </a:xfrm>
        </p:spPr>
        <p:txBody>
          <a:bodyPr>
            <a:normAutofit/>
          </a:bodyPr>
          <a:lstStyle/>
          <a:p>
            <a:r>
              <a:rPr lang="pt-BR" dirty="0">
                <a:ea typeface="+mj-lt"/>
                <a:cs typeface="+mj-lt"/>
              </a:rPr>
              <a:t>MACHINE LEARNING</a:t>
            </a:r>
            <a:endParaRPr lang="pt-BR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815E34B-5D02-4E01-A936-E8E1C0AB6F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2523BED-E348-18D4-59B5-3C9DD4DA51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5" y="2133600"/>
            <a:ext cx="3666320" cy="3783316"/>
          </a:xfrm>
        </p:spPr>
        <p:txBody>
          <a:bodyPr vert="horz" lIns="91440" tIns="45720" rIns="91440" bIns="45720" rtlCol="0" anchor="t">
            <a:normAutofit fontScale="92500"/>
          </a:bodyPr>
          <a:lstStyle/>
          <a:p>
            <a:r>
              <a:rPr lang="pt-BR" b="1" dirty="0">
                <a:ea typeface="+mn-lt"/>
                <a:cs typeface="+mn-lt"/>
              </a:rPr>
              <a:t>Modelos aplicados:</a:t>
            </a:r>
            <a:endParaRPr lang="pt-BR" dirty="0"/>
          </a:p>
          <a:p>
            <a:r>
              <a:rPr lang="pt-BR" dirty="0">
                <a:ea typeface="+mn-lt"/>
                <a:cs typeface="+mn-lt"/>
              </a:rPr>
              <a:t>Árvore de Decisão → detectar padrões de falhas</a:t>
            </a:r>
            <a:endParaRPr lang="pt-BR" dirty="0"/>
          </a:p>
          <a:p>
            <a:r>
              <a:rPr lang="pt-BR" dirty="0">
                <a:ea typeface="+mn-lt"/>
                <a:cs typeface="+mn-lt"/>
              </a:rPr>
              <a:t>Rede Neural (</a:t>
            </a:r>
            <a:r>
              <a:rPr lang="pt-BR" dirty="0" err="1">
                <a:ea typeface="+mn-lt"/>
                <a:cs typeface="+mn-lt"/>
              </a:rPr>
              <a:t>MLPClassifier</a:t>
            </a:r>
            <a:r>
              <a:rPr lang="pt-BR" dirty="0">
                <a:ea typeface="+mn-lt"/>
                <a:cs typeface="+mn-lt"/>
              </a:rPr>
              <a:t>) → prever risco de reclamações</a:t>
            </a:r>
            <a:endParaRPr lang="pt-BR" dirty="0"/>
          </a:p>
          <a:p>
            <a:r>
              <a:rPr lang="pt-BR" b="1" dirty="0">
                <a:ea typeface="+mn-lt"/>
                <a:cs typeface="+mn-lt"/>
              </a:rPr>
              <a:t>Resultados:</a:t>
            </a:r>
            <a:endParaRPr lang="pt-BR" dirty="0"/>
          </a:p>
          <a:p>
            <a:r>
              <a:rPr lang="pt-BR" dirty="0">
                <a:ea typeface="+mn-lt"/>
                <a:cs typeface="+mn-lt"/>
              </a:rPr>
              <a:t>Identificação de causas repetitivas</a:t>
            </a:r>
            <a:endParaRPr lang="pt-BR" dirty="0"/>
          </a:p>
          <a:p>
            <a:r>
              <a:rPr lang="pt-BR" dirty="0">
                <a:ea typeface="+mn-lt"/>
                <a:cs typeface="+mn-lt"/>
              </a:rPr>
              <a:t>Melhoria na tomada de decisão</a:t>
            </a:r>
            <a:endParaRPr lang="pt-BR" dirty="0"/>
          </a:p>
          <a:p>
            <a:r>
              <a:rPr lang="pt-BR" dirty="0">
                <a:ea typeface="+mn-lt"/>
                <a:cs typeface="+mn-lt"/>
              </a:rPr>
              <a:t>Redução de retrabalho</a:t>
            </a:r>
            <a:endParaRPr lang="pt-BR" dirty="0"/>
          </a:p>
          <a:p>
            <a:endParaRPr lang="pt-BR" dirty="0"/>
          </a:p>
        </p:txBody>
      </p:sp>
      <p:pic>
        <p:nvPicPr>
          <p:cNvPr id="9" name="Graphic 7" descr="Head with Gears">
            <a:extLst>
              <a:ext uri="{FF2B5EF4-FFF2-40B4-BE49-F238E27FC236}">
                <a16:creationId xmlns:a16="http://schemas.microsoft.com/office/drawing/2014/main" id="{0B120F16-7C9D-F65A-2CFE-EC348C0864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69945" y="640080"/>
            <a:ext cx="5252773" cy="5252773"/>
          </a:xfrm>
          <a:prstGeom prst="rect">
            <a:avLst/>
          </a:prstGeom>
        </p:spPr>
      </p:pic>
      <p:sp>
        <p:nvSpPr>
          <p:cNvPr id="15" name="Freeform 11">
            <a:extLst>
              <a:ext uri="{FF2B5EF4-FFF2-40B4-BE49-F238E27FC236}">
                <a16:creationId xmlns:a16="http://schemas.microsoft.com/office/drawing/2014/main" id="{7DE3414B-B032-4710-A468-D3285E38C5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6061223"/>
            <a:ext cx="1038036" cy="506277"/>
          </a:xfrm>
          <a:custGeom>
            <a:avLst/>
            <a:gdLst>
              <a:gd name="connsiteX0" fmla="*/ 0 w 1038036"/>
              <a:gd name="connsiteY0" fmla="*/ 0 h 506277"/>
              <a:gd name="connsiteX1" fmla="*/ 182880 w 1038036"/>
              <a:gd name="connsiteY1" fmla="*/ 0 h 506277"/>
              <a:gd name="connsiteX2" fmla="*/ 291705 w 1038036"/>
              <a:gd name="connsiteY2" fmla="*/ 0 h 506277"/>
              <a:gd name="connsiteX3" fmla="*/ 291705 w 1038036"/>
              <a:gd name="connsiteY3" fmla="*/ 151 h 506277"/>
              <a:gd name="connsiteX4" fmla="*/ 692049 w 1038036"/>
              <a:gd name="connsiteY4" fmla="*/ 705 h 506277"/>
              <a:gd name="connsiteX5" fmla="*/ 782744 w 1038036"/>
              <a:gd name="connsiteY5" fmla="*/ 705 h 506277"/>
              <a:gd name="connsiteX6" fmla="*/ 797001 w 1038036"/>
              <a:gd name="connsiteY6" fmla="*/ 5473 h 506277"/>
              <a:gd name="connsiteX7" fmla="*/ 801982 w 1038036"/>
              <a:gd name="connsiteY7" fmla="*/ 10242 h 506277"/>
              <a:gd name="connsiteX8" fmla="*/ 1030951 w 1038036"/>
              <a:gd name="connsiteY8" fmla="*/ 239185 h 506277"/>
              <a:gd name="connsiteX9" fmla="*/ 1030951 w 1038036"/>
              <a:gd name="connsiteY9" fmla="*/ 267797 h 506277"/>
              <a:gd name="connsiteX10" fmla="*/ 801982 w 1038036"/>
              <a:gd name="connsiteY10" fmla="*/ 496740 h 506277"/>
              <a:gd name="connsiteX11" fmla="*/ 797001 w 1038036"/>
              <a:gd name="connsiteY11" fmla="*/ 501508 h 506277"/>
              <a:gd name="connsiteX12" fmla="*/ 782744 w 1038036"/>
              <a:gd name="connsiteY12" fmla="*/ 506277 h 506277"/>
              <a:gd name="connsiteX13" fmla="*/ 692049 w 1038036"/>
              <a:gd name="connsiteY13" fmla="*/ 506277 h 506277"/>
              <a:gd name="connsiteX14" fmla="*/ 291705 w 1038036"/>
              <a:gd name="connsiteY14" fmla="*/ 505140 h 506277"/>
              <a:gd name="connsiteX15" fmla="*/ 291705 w 1038036"/>
              <a:gd name="connsiteY15" fmla="*/ 506277 h 506277"/>
              <a:gd name="connsiteX16" fmla="*/ 0 w 1038036"/>
              <a:gd name="connsiteY16" fmla="*/ 506277 h 506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038036" h="506277">
                <a:moveTo>
                  <a:pt x="0" y="0"/>
                </a:moveTo>
                <a:lnTo>
                  <a:pt x="182880" y="0"/>
                </a:lnTo>
                <a:lnTo>
                  <a:pt x="291705" y="0"/>
                </a:lnTo>
                <a:lnTo>
                  <a:pt x="291705" y="151"/>
                </a:lnTo>
                <a:lnTo>
                  <a:pt x="692049" y="705"/>
                </a:lnTo>
                <a:lnTo>
                  <a:pt x="782744" y="705"/>
                </a:lnTo>
                <a:cubicBezTo>
                  <a:pt x="787553" y="705"/>
                  <a:pt x="792363" y="5473"/>
                  <a:pt x="797001" y="5473"/>
                </a:cubicBezTo>
                <a:cubicBezTo>
                  <a:pt x="797001" y="10242"/>
                  <a:pt x="801982" y="10242"/>
                  <a:pt x="801982" y="10242"/>
                </a:cubicBezTo>
                <a:lnTo>
                  <a:pt x="1030951" y="239185"/>
                </a:lnTo>
                <a:cubicBezTo>
                  <a:pt x="1040398" y="248722"/>
                  <a:pt x="1040398" y="258259"/>
                  <a:pt x="1030951" y="267797"/>
                </a:cubicBezTo>
                <a:lnTo>
                  <a:pt x="801982" y="496740"/>
                </a:lnTo>
                <a:cubicBezTo>
                  <a:pt x="800436" y="498363"/>
                  <a:pt x="798547" y="499885"/>
                  <a:pt x="797001" y="501508"/>
                </a:cubicBezTo>
                <a:cubicBezTo>
                  <a:pt x="792363" y="506277"/>
                  <a:pt x="787553" y="506277"/>
                  <a:pt x="782744" y="506277"/>
                </a:cubicBezTo>
                <a:lnTo>
                  <a:pt x="692049" y="506277"/>
                </a:lnTo>
                <a:lnTo>
                  <a:pt x="291705" y="505140"/>
                </a:lnTo>
                <a:lnTo>
                  <a:pt x="291705" y="506277"/>
                </a:lnTo>
                <a:lnTo>
                  <a:pt x="0" y="506277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2071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29AB4AA1-285E-683C-8EA1-22A4AE218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                </a:t>
            </a:r>
            <a:r>
              <a:rPr lang="pt-BR" dirty="0">
                <a:ea typeface="+mj-lt"/>
                <a:cs typeface="+mj-lt"/>
              </a:rPr>
              <a:t>DASHBOARD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0378B67-7C52-DA10-B717-9F1F5FE3C2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pt-BR" dirty="0">
                <a:ea typeface="+mn-lt"/>
                <a:cs typeface="+mn-lt"/>
              </a:rPr>
              <a:t>Dashboard em tempo real oferecendo:</a:t>
            </a:r>
            <a:endParaRPr lang="pt-BR" dirty="0"/>
          </a:p>
          <a:p>
            <a:r>
              <a:rPr lang="pt-BR" dirty="0">
                <a:ea typeface="+mn-lt"/>
                <a:cs typeface="+mn-lt"/>
              </a:rPr>
              <a:t>KPIs operacionais</a:t>
            </a:r>
            <a:endParaRPr lang="pt-BR" dirty="0"/>
          </a:p>
          <a:p>
            <a:r>
              <a:rPr lang="pt-BR" dirty="0">
                <a:ea typeface="+mn-lt"/>
                <a:cs typeface="+mn-lt"/>
              </a:rPr>
              <a:t>Indicadores financeiros</a:t>
            </a:r>
            <a:endParaRPr lang="pt-BR" dirty="0"/>
          </a:p>
          <a:p>
            <a:r>
              <a:rPr lang="pt-BR" dirty="0">
                <a:ea typeface="+mn-lt"/>
                <a:cs typeface="+mn-lt"/>
              </a:rPr>
              <a:t>Desempenho de técnicos</a:t>
            </a:r>
            <a:endParaRPr lang="pt-BR" dirty="0"/>
          </a:p>
          <a:p>
            <a:r>
              <a:rPr lang="pt-BR" dirty="0">
                <a:ea typeface="+mn-lt"/>
                <a:cs typeface="+mn-lt"/>
              </a:rPr>
              <a:t>Taxa de reclamações</a:t>
            </a:r>
            <a:endParaRPr lang="pt-BR" dirty="0"/>
          </a:p>
          <a:p>
            <a:r>
              <a:rPr lang="pt-BR" dirty="0">
                <a:ea typeface="+mn-lt"/>
                <a:cs typeface="+mn-lt"/>
              </a:rPr>
              <a:t>Distribuição de serviços</a:t>
            </a:r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928068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B258D2B-6AC3-4B3A-A87C-FD7E651782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7620" y="-1"/>
            <a:ext cx="1220724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10" name="Picture 8" descr="Setas apontando para a direita enquanto uma aponta para a esquerda">
            <a:extLst>
              <a:ext uri="{FF2B5EF4-FFF2-40B4-BE49-F238E27FC236}">
                <a16:creationId xmlns:a16="http://schemas.microsoft.com/office/drawing/2014/main" id="{A7BA5893-8F8A-839A-4467-F15C8D42EF5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063" r="6321" b="-3"/>
          <a:stretch>
            <a:fillRect/>
          </a:stretch>
        </p:blipFill>
        <p:spPr>
          <a:xfrm>
            <a:off x="1" y="10"/>
            <a:ext cx="7574440" cy="6857990"/>
          </a:xfrm>
          <a:prstGeom prst="rect">
            <a:avLst/>
          </a:prstGeom>
        </p:spPr>
      </p:pic>
      <p:sp>
        <p:nvSpPr>
          <p:cNvPr id="15" name="Freeform 5">
            <a:extLst>
              <a:ext uri="{FF2B5EF4-FFF2-40B4-BE49-F238E27FC236}">
                <a16:creationId xmlns:a16="http://schemas.microsoft.com/office/drawing/2014/main" id="{8D55DD8B-9BF9-4B91-A22D-2D3F2AEFF1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1" y="659027"/>
            <a:ext cx="9042690" cy="1035152"/>
          </a:xfrm>
          <a:custGeom>
            <a:avLst/>
            <a:gdLst>
              <a:gd name="T0" fmla="*/ 1900 w 1902"/>
              <a:gd name="T1" fmla="*/ 77 h 163"/>
              <a:gd name="T2" fmla="*/ 1826 w 1902"/>
              <a:gd name="T3" fmla="*/ 3 h 163"/>
              <a:gd name="T4" fmla="*/ 1825 w 1902"/>
              <a:gd name="T5" fmla="*/ 2 h 163"/>
              <a:gd name="T6" fmla="*/ 1819 w 1902"/>
              <a:gd name="T7" fmla="*/ 0 h 163"/>
              <a:gd name="T8" fmla="*/ 1363 w 1902"/>
              <a:gd name="T9" fmla="*/ 0 h 163"/>
              <a:gd name="T10" fmla="*/ 1348 w 1902"/>
              <a:gd name="T11" fmla="*/ 0 h 163"/>
              <a:gd name="T12" fmla="*/ 1225 w 1902"/>
              <a:gd name="T13" fmla="*/ 0 h 163"/>
              <a:gd name="T14" fmla="*/ 1033 w 1902"/>
              <a:gd name="T15" fmla="*/ 0 h 163"/>
              <a:gd name="T16" fmla="*/ 892 w 1902"/>
              <a:gd name="T17" fmla="*/ 0 h 163"/>
              <a:gd name="T18" fmla="*/ 786 w 1902"/>
              <a:gd name="T19" fmla="*/ 0 h 163"/>
              <a:gd name="T20" fmla="*/ 577 w 1902"/>
              <a:gd name="T21" fmla="*/ 0 h 163"/>
              <a:gd name="T22" fmla="*/ 562 w 1902"/>
              <a:gd name="T23" fmla="*/ 0 h 163"/>
              <a:gd name="T24" fmla="*/ 439 w 1902"/>
              <a:gd name="T25" fmla="*/ 0 h 163"/>
              <a:gd name="T26" fmla="*/ 106 w 1902"/>
              <a:gd name="T27" fmla="*/ 0 h 163"/>
              <a:gd name="T28" fmla="*/ 0 w 1902"/>
              <a:gd name="T29" fmla="*/ 0 h 163"/>
              <a:gd name="T30" fmla="*/ 0 w 1902"/>
              <a:gd name="T31" fmla="*/ 163 h 163"/>
              <a:gd name="T32" fmla="*/ 106 w 1902"/>
              <a:gd name="T33" fmla="*/ 163 h 163"/>
              <a:gd name="T34" fmla="*/ 439 w 1902"/>
              <a:gd name="T35" fmla="*/ 163 h 163"/>
              <a:gd name="T36" fmla="*/ 562 w 1902"/>
              <a:gd name="T37" fmla="*/ 163 h 163"/>
              <a:gd name="T38" fmla="*/ 577 w 1902"/>
              <a:gd name="T39" fmla="*/ 163 h 163"/>
              <a:gd name="T40" fmla="*/ 786 w 1902"/>
              <a:gd name="T41" fmla="*/ 163 h 163"/>
              <a:gd name="T42" fmla="*/ 892 w 1902"/>
              <a:gd name="T43" fmla="*/ 163 h 163"/>
              <a:gd name="T44" fmla="*/ 1033 w 1902"/>
              <a:gd name="T45" fmla="*/ 163 h 163"/>
              <a:gd name="T46" fmla="*/ 1225 w 1902"/>
              <a:gd name="T47" fmla="*/ 163 h 163"/>
              <a:gd name="T48" fmla="*/ 1348 w 1902"/>
              <a:gd name="T49" fmla="*/ 163 h 163"/>
              <a:gd name="T50" fmla="*/ 1363 w 1902"/>
              <a:gd name="T51" fmla="*/ 163 h 163"/>
              <a:gd name="T52" fmla="*/ 1819 w 1902"/>
              <a:gd name="T53" fmla="*/ 163 h 163"/>
              <a:gd name="T54" fmla="*/ 1825 w 1902"/>
              <a:gd name="T55" fmla="*/ 161 h 163"/>
              <a:gd name="T56" fmla="*/ 1826 w 1902"/>
              <a:gd name="T57" fmla="*/ 160 h 163"/>
              <a:gd name="T58" fmla="*/ 1900 w 1902"/>
              <a:gd name="T59" fmla="*/ 86 h 163"/>
              <a:gd name="T60" fmla="*/ 1900 w 1902"/>
              <a:gd name="T61" fmla="*/ 77 h 1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</a:cxnLst>
            <a:rect l="0" t="0" r="r" b="b"/>
            <a:pathLst>
              <a:path w="1902" h="163">
                <a:moveTo>
                  <a:pt x="1900" y="77"/>
                </a:moveTo>
                <a:cubicBezTo>
                  <a:pt x="1826" y="3"/>
                  <a:pt x="1826" y="3"/>
                  <a:pt x="1826" y="3"/>
                </a:cubicBezTo>
                <a:cubicBezTo>
                  <a:pt x="1825" y="2"/>
                  <a:pt x="1825" y="2"/>
                  <a:pt x="1825" y="2"/>
                </a:cubicBezTo>
                <a:cubicBezTo>
                  <a:pt x="1823" y="1"/>
                  <a:pt x="1821" y="0"/>
                  <a:pt x="1819" y="0"/>
                </a:cubicBezTo>
                <a:cubicBezTo>
                  <a:pt x="1363" y="0"/>
                  <a:pt x="1363" y="0"/>
                  <a:pt x="1363" y="0"/>
                </a:cubicBezTo>
                <a:cubicBezTo>
                  <a:pt x="1348" y="0"/>
                  <a:pt x="1348" y="0"/>
                  <a:pt x="1348" y="0"/>
                </a:cubicBezTo>
                <a:cubicBezTo>
                  <a:pt x="1225" y="0"/>
                  <a:pt x="1225" y="0"/>
                  <a:pt x="1225" y="0"/>
                </a:cubicBezTo>
                <a:cubicBezTo>
                  <a:pt x="1033" y="0"/>
                  <a:pt x="1033" y="0"/>
                  <a:pt x="1033" y="0"/>
                </a:cubicBezTo>
                <a:cubicBezTo>
                  <a:pt x="892" y="0"/>
                  <a:pt x="892" y="0"/>
                  <a:pt x="892" y="0"/>
                </a:cubicBezTo>
                <a:cubicBezTo>
                  <a:pt x="786" y="0"/>
                  <a:pt x="786" y="0"/>
                  <a:pt x="786" y="0"/>
                </a:cubicBezTo>
                <a:cubicBezTo>
                  <a:pt x="577" y="0"/>
                  <a:pt x="577" y="0"/>
                  <a:pt x="577" y="0"/>
                </a:cubicBezTo>
                <a:cubicBezTo>
                  <a:pt x="562" y="0"/>
                  <a:pt x="562" y="0"/>
                  <a:pt x="562" y="0"/>
                </a:cubicBezTo>
                <a:cubicBezTo>
                  <a:pt x="439" y="0"/>
                  <a:pt x="439" y="0"/>
                  <a:pt x="439" y="0"/>
                </a:cubicBezTo>
                <a:cubicBezTo>
                  <a:pt x="106" y="0"/>
                  <a:pt x="106" y="0"/>
                  <a:pt x="106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3"/>
                  <a:pt x="0" y="163"/>
                  <a:pt x="0" y="163"/>
                </a:cubicBezTo>
                <a:cubicBezTo>
                  <a:pt x="106" y="163"/>
                  <a:pt x="106" y="163"/>
                  <a:pt x="106" y="163"/>
                </a:cubicBezTo>
                <a:cubicBezTo>
                  <a:pt x="439" y="163"/>
                  <a:pt x="439" y="163"/>
                  <a:pt x="439" y="163"/>
                </a:cubicBezTo>
                <a:cubicBezTo>
                  <a:pt x="562" y="163"/>
                  <a:pt x="562" y="163"/>
                  <a:pt x="562" y="163"/>
                </a:cubicBezTo>
                <a:cubicBezTo>
                  <a:pt x="577" y="163"/>
                  <a:pt x="577" y="163"/>
                  <a:pt x="577" y="163"/>
                </a:cubicBezTo>
                <a:cubicBezTo>
                  <a:pt x="786" y="163"/>
                  <a:pt x="786" y="163"/>
                  <a:pt x="786" y="163"/>
                </a:cubicBezTo>
                <a:cubicBezTo>
                  <a:pt x="892" y="163"/>
                  <a:pt x="892" y="163"/>
                  <a:pt x="892" y="163"/>
                </a:cubicBezTo>
                <a:cubicBezTo>
                  <a:pt x="1033" y="163"/>
                  <a:pt x="1033" y="163"/>
                  <a:pt x="1033" y="163"/>
                </a:cubicBezTo>
                <a:cubicBezTo>
                  <a:pt x="1225" y="163"/>
                  <a:pt x="1225" y="163"/>
                  <a:pt x="1225" y="163"/>
                </a:cubicBezTo>
                <a:cubicBezTo>
                  <a:pt x="1348" y="163"/>
                  <a:pt x="1348" y="163"/>
                  <a:pt x="1348" y="163"/>
                </a:cubicBezTo>
                <a:cubicBezTo>
                  <a:pt x="1363" y="163"/>
                  <a:pt x="1363" y="163"/>
                  <a:pt x="1363" y="163"/>
                </a:cubicBezTo>
                <a:cubicBezTo>
                  <a:pt x="1819" y="163"/>
                  <a:pt x="1819" y="163"/>
                  <a:pt x="1819" y="163"/>
                </a:cubicBezTo>
                <a:cubicBezTo>
                  <a:pt x="1821" y="163"/>
                  <a:pt x="1823" y="162"/>
                  <a:pt x="1825" y="161"/>
                </a:cubicBezTo>
                <a:cubicBezTo>
                  <a:pt x="1825" y="160"/>
                  <a:pt x="1825" y="160"/>
                  <a:pt x="1826" y="160"/>
                </a:cubicBezTo>
                <a:cubicBezTo>
                  <a:pt x="1900" y="86"/>
                  <a:pt x="1900" y="86"/>
                  <a:pt x="1900" y="86"/>
                </a:cubicBezTo>
                <a:cubicBezTo>
                  <a:pt x="1902" y="83"/>
                  <a:pt x="1902" y="79"/>
                  <a:pt x="1900" y="7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ACF11F3-92E5-79A6-A936-4D004D8935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1867" y="787400"/>
            <a:ext cx="7145866" cy="778933"/>
          </a:xfrm>
        </p:spPr>
        <p:txBody>
          <a:bodyPr anchor="ctr">
            <a:normAutofit/>
          </a:bodyPr>
          <a:lstStyle/>
          <a:p>
            <a:r>
              <a:rPr lang="pt-BR" sz="3200">
                <a:solidFill>
                  <a:srgbClr val="FEFFFF"/>
                </a:solidFill>
              </a:rPr>
              <a:t>              </a:t>
            </a:r>
            <a:r>
              <a:rPr lang="pt-BR" sz="3200">
                <a:solidFill>
                  <a:srgbClr val="FEFFFF"/>
                </a:solidFill>
                <a:ea typeface="+mj-lt"/>
                <a:cs typeface="+mj-lt"/>
              </a:rPr>
              <a:t>RESULTADOS OBTIDOS</a:t>
            </a:r>
            <a:endParaRPr lang="pt-BR" sz="3200">
              <a:solidFill>
                <a:srgbClr val="FEFFFF"/>
              </a:solidFill>
            </a:endParaRPr>
          </a:p>
        </p:txBody>
      </p:sp>
      <p:sp>
        <p:nvSpPr>
          <p:cNvPr id="7" name="Espaço Reservado para Conteúdo 6">
            <a:extLst>
              <a:ext uri="{FF2B5EF4-FFF2-40B4-BE49-F238E27FC236}">
                <a16:creationId xmlns:a16="http://schemas.microsoft.com/office/drawing/2014/main" id="{CBE612B0-B622-E31C-6C63-CAB47F89AF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60770" y="2017668"/>
            <a:ext cx="3750205" cy="385781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 dirty="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Maior transparência nos serviços</a:t>
            </a:r>
            <a:endParaRPr lang="pt-BR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pt-BR" dirty="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Redução de reclamações</a:t>
            </a:r>
            <a:endParaRPr lang="pt-BR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pt-BR" dirty="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Fidelização de clientes</a:t>
            </a:r>
            <a:endParaRPr lang="pt-BR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pt-BR" dirty="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Melhoria nos fluxos internos</a:t>
            </a:r>
            <a:endParaRPr lang="pt-BR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pt-BR" dirty="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Apoio às decisões do gestor</a:t>
            </a:r>
            <a:endParaRPr lang="pt-BR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pt-BR" dirty="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Base unificada de informações</a:t>
            </a:r>
            <a:endParaRPr lang="pt-BR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endParaRPr lang="pt-BR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68208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F55B8F-D3D8-B8D3-EBDD-832C6604F7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                </a:t>
            </a:r>
            <a:r>
              <a:rPr lang="pt-BR" dirty="0">
                <a:ea typeface="+mj-lt"/>
                <a:cs typeface="+mj-lt"/>
              </a:rPr>
              <a:t>CONCLUSÃO</a:t>
            </a:r>
            <a:endParaRPr lang="pt-BR" dirty="0"/>
          </a:p>
        </p:txBody>
      </p:sp>
      <p:sp>
        <p:nvSpPr>
          <p:cNvPr id="7" name="Espaço Reservado para Conteúdo 6">
            <a:extLst>
              <a:ext uri="{FF2B5EF4-FFF2-40B4-BE49-F238E27FC236}">
                <a16:creationId xmlns:a16="http://schemas.microsoft.com/office/drawing/2014/main" id="{F8CC6BB0-556C-E6A2-ED16-2762C66110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pt-BR" dirty="0">
                <a:ea typeface="+mn-lt"/>
                <a:cs typeface="+mn-lt"/>
              </a:rPr>
              <a:t>O sistema desenvolvido:</a:t>
            </a:r>
            <a:endParaRPr lang="pt-BR" dirty="0"/>
          </a:p>
          <a:p>
            <a:r>
              <a:rPr lang="pt-BR" dirty="0">
                <a:ea typeface="+mn-lt"/>
                <a:cs typeface="+mn-lt"/>
              </a:rPr>
              <a:t>É escalável</a:t>
            </a:r>
            <a:endParaRPr lang="pt-BR" dirty="0"/>
          </a:p>
          <a:p>
            <a:r>
              <a:rPr lang="pt-BR" dirty="0">
                <a:ea typeface="+mn-lt"/>
                <a:cs typeface="+mn-lt"/>
              </a:rPr>
              <a:t>Pode ser aplicado em micro e pequenas oficinas</a:t>
            </a:r>
            <a:endParaRPr lang="pt-BR" dirty="0"/>
          </a:p>
          <a:p>
            <a:r>
              <a:rPr lang="pt-BR" dirty="0">
                <a:ea typeface="+mn-lt"/>
                <a:cs typeface="+mn-lt"/>
              </a:rPr>
              <a:t>Traz automação, inteligência e eficiência</a:t>
            </a:r>
            <a:endParaRPr lang="pt-BR" dirty="0"/>
          </a:p>
          <a:p>
            <a:r>
              <a:rPr lang="pt-BR" dirty="0">
                <a:ea typeface="+mn-lt"/>
                <a:cs typeface="+mn-lt"/>
              </a:rPr>
              <a:t>Moderniza a gestão e melhora o atendimento</a:t>
            </a:r>
            <a:endParaRPr lang="pt-BR" dirty="0"/>
          </a:p>
          <a:p>
            <a:r>
              <a:rPr lang="pt-BR" b="1" dirty="0">
                <a:ea typeface="+mn-lt"/>
                <a:cs typeface="+mn-lt"/>
              </a:rPr>
              <a:t>Trabalhos Futuros:</a:t>
            </a:r>
            <a:endParaRPr lang="pt-BR" dirty="0"/>
          </a:p>
          <a:p>
            <a:r>
              <a:rPr lang="pt-BR" dirty="0">
                <a:ea typeface="+mn-lt"/>
                <a:cs typeface="+mn-lt"/>
              </a:rPr>
              <a:t>Novos modelos de ML</a:t>
            </a:r>
            <a:endParaRPr lang="pt-BR" dirty="0"/>
          </a:p>
          <a:p>
            <a:r>
              <a:rPr lang="pt-BR" dirty="0">
                <a:ea typeface="+mn-lt"/>
                <a:cs typeface="+mn-lt"/>
              </a:rPr>
              <a:t>Expansão do dashboard</a:t>
            </a:r>
            <a:endParaRPr lang="pt-BR" dirty="0"/>
          </a:p>
          <a:p>
            <a:r>
              <a:rPr lang="pt-BR" dirty="0">
                <a:ea typeface="+mn-lt"/>
                <a:cs typeface="+mn-lt"/>
              </a:rPr>
              <a:t>Integração com dispositivos IoT</a:t>
            </a:r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52179765"/>
      </p:ext>
    </p:extLst>
  </p:cSld>
  <p:clrMapOvr>
    <a:masterClrMapping/>
  </p:clrMapOvr>
</p:sld>
</file>

<file path=ppt/theme/theme1.xml><?xml version="1.0" encoding="utf-8"?>
<a:theme xmlns:a="http://schemas.openxmlformats.org/drawingml/2006/main" name="Cacho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731</TotalTime>
  <Words>645</Words>
  <Application>Microsoft Office PowerPoint</Application>
  <PresentationFormat>Widescreen</PresentationFormat>
  <Paragraphs>31</Paragraphs>
  <Slides>13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4" baseType="lpstr">
      <vt:lpstr>Cacho</vt:lpstr>
      <vt:lpstr> Dashboard inteligente com Machine Learning para oficinas Diesel. </vt:lpstr>
      <vt:lpstr>Integrantes do grupo</vt:lpstr>
      <vt:lpstr>                     Justificativa</vt:lpstr>
      <vt:lpstr>Objetivos do Projeto </vt:lpstr>
      <vt:lpstr>Metodologia Utilizada</vt:lpstr>
      <vt:lpstr>Tecnologias Utilizadas</vt:lpstr>
      <vt:lpstr>Apresentação do PowerPoint</vt:lpstr>
      <vt:lpstr>ARQUITETURA DO SISTEMA</vt:lpstr>
      <vt:lpstr>BANCO DE DADOS</vt:lpstr>
      <vt:lpstr>MACHINE LEARNING</vt:lpstr>
      <vt:lpstr>                DASHBOARD</vt:lpstr>
      <vt:lpstr>              RESULTADOS OBTIDOS</vt:lpstr>
      <vt:lpstr>                CONCLUSÃO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Gerenciamento de ferramentas</dc:title>
  <dc:creator>Jonas Pereira</dc:creator>
  <cp:lastModifiedBy>Heleno</cp:lastModifiedBy>
  <cp:revision>310</cp:revision>
  <dcterms:created xsi:type="dcterms:W3CDTF">2024-05-26T14:57:27Z</dcterms:created>
  <dcterms:modified xsi:type="dcterms:W3CDTF">2025-11-16T02:26:57Z</dcterms:modified>
</cp:coreProperties>
</file>