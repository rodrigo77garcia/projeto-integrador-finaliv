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59" r:id="rId6"/>
    <p:sldId id="261" r:id="rId7"/>
    <p:sldId id="263" r:id="rId8"/>
    <p:sldId id="264" r:id="rId9"/>
    <p:sldId id="265" r:id="rId10"/>
    <p:sldId id="266" r:id="rId11"/>
    <p:sldId id="270" r:id="rId12"/>
    <p:sldId id="271" r:id="rId13"/>
    <p:sldId id="272" r:id="rId14"/>
    <p:sldId id="262" r:id="rId15"/>
    <p:sldId id="267" r:id="rId16"/>
    <p:sldId id="268" r:id="rId17"/>
    <p:sldId id="26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75" d="100"/>
          <a:sy n="75" d="100"/>
        </p:scale>
        <p:origin x="540"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pt-BR"/>
              <a:t>Clique para editar o título Mestre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pt-BR"/>
              <a:t>Clique para editar o título Mestre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B61BEF0D-F0BB-DE4B-95CE-6DB70DBA9567}" type="datetimeFigureOut">
              <a:rPr lang="en-US" dirty="0"/>
              <a:pPr/>
              <a:t>11/10/2024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pt-BR"/>
              <a:t>Clique para editar o título Mestre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pt-BR"/>
              <a:t>Clique para editar o título Mestre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B61BEF0D-F0BB-DE4B-95CE-6DB70DBA9567}" type="datetimeFigureOut">
              <a:rPr lang="en-US" dirty="0"/>
              <a:pPr/>
              <a:t>11/10/2024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B61BEF0D-F0BB-DE4B-95CE-6DB70DBA9567}" type="datetimeFigureOut">
              <a:rPr lang="en-US" dirty="0"/>
              <a:pPr/>
              <a:t>11/10/2024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pt-BR"/>
              <a:t>Clique para editar o título Mestre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B61BEF0D-F0BB-DE4B-95CE-6DB70DBA9567}" type="datetimeFigureOut">
              <a:rPr lang="en-US" dirty="0"/>
              <a:pPr/>
              <a:t>11/10/2024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pt-BR"/>
              <a:t>Clique para editar o título Mestre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os estilos de texto Mestres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B61BEF0D-F0BB-DE4B-95CE-6DB70DBA9567}" type="datetimeFigureOut">
              <a:rPr lang="en-US" dirty="0"/>
              <a:pPr/>
              <a:t>11/10/2024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pt-BR"/>
              <a:t>Clique para editar o título Mestre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pt-BR"/>
              <a:t>Clique para editar os estilos de texto Mestres</a:t>
            </a:r>
          </a:p>
        </p:txBody>
      </p:sp>
      <p:sp>
        <p:nvSpPr>
          <p:cNvPr id="5" name="Date Placeholder 4"/>
          <p:cNvSpPr>
            <a:spLocks noGrp="1"/>
          </p:cNvSpPr>
          <p:nvPr>
            <p:ph type="dt" sz="half" idx="10"/>
          </p:nvPr>
        </p:nvSpPr>
        <p:spPr/>
        <p:txBody>
          <a:bodyPr/>
          <a:lstStyle/>
          <a:p>
            <a:fld id="{B61BEF0D-F0BB-DE4B-95CE-6DB70DBA9567}" type="datetimeFigureOut">
              <a:rPr lang="en-US" dirty="0"/>
              <a:pPr/>
              <a:t>11/10/2024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pt-BR"/>
              <a:t>Clique para editar o título Mestre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os estilos de texto Mestres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pt-BR"/>
              <a:t>Clique para editar os estilos de texto Mestres</a:t>
            </a:r>
          </a:p>
        </p:txBody>
      </p:sp>
      <p:sp>
        <p:nvSpPr>
          <p:cNvPr id="5" name="Date Placeholder 4"/>
          <p:cNvSpPr>
            <a:spLocks noGrp="1"/>
          </p:cNvSpPr>
          <p:nvPr>
            <p:ph type="dt" sz="half" idx="10"/>
          </p:nvPr>
        </p:nvSpPr>
        <p:spPr/>
        <p:txBody>
          <a:bodyPr/>
          <a:lstStyle/>
          <a:p>
            <a:fld id="{B61BEF0D-F0BB-DE4B-95CE-6DB70DBA9567}" type="datetimeFigureOut">
              <a:rPr lang="en-US" dirty="0"/>
              <a:pPr/>
              <a:t>11/10/2024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pt-BR"/>
              <a:t>Clique para editar o título Mestre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Clique para editar os estilos de texto Mestres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pt-BR"/>
              <a:t>Clique para editar os estilos de texto Mestres</a:t>
            </a:r>
          </a:p>
        </p:txBody>
      </p:sp>
      <p:sp>
        <p:nvSpPr>
          <p:cNvPr id="5" name="Date Placeholder 4"/>
          <p:cNvSpPr>
            <a:spLocks noGrp="1"/>
          </p:cNvSpPr>
          <p:nvPr>
            <p:ph type="dt" sz="half" idx="10"/>
          </p:nvPr>
        </p:nvSpPr>
        <p:spPr/>
        <p:txBody>
          <a:bodyPr/>
          <a:lstStyle/>
          <a:p>
            <a:fld id="{B61BEF0D-F0BB-DE4B-95CE-6DB70DBA9567}" type="datetimeFigureOut">
              <a:rPr lang="en-US" dirty="0"/>
              <a:pPr/>
              <a:t>11/10/2024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pt-BR"/>
              <a:t>Clique para editar o título Mestre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pt-BR"/>
              <a:t>Clique para editar o título Mestre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11/10/2024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6.xml"/><Relationship Id="rId4" Type="http://schemas.openxmlformats.org/officeDocument/2006/relationships/image" Target="../media/image4.jfif"/></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548BCD-9732-CEE9-013B-BF7B15A8EB23}"/>
              </a:ext>
            </a:extLst>
          </p:cNvPr>
          <p:cNvSpPr>
            <a:spLocks noGrp="1"/>
          </p:cNvSpPr>
          <p:nvPr>
            <p:ph type="ctrTitle"/>
          </p:nvPr>
        </p:nvSpPr>
        <p:spPr/>
        <p:txBody>
          <a:bodyPr>
            <a:normAutofit fontScale="90000"/>
          </a:bodyPr>
          <a:lstStyle/>
          <a:p>
            <a:pPr algn="ctr"/>
            <a:r>
              <a:rPr lang="pt-BR" dirty="0"/>
              <a:t>Manutenção e reparação de bombas injetoras diesel: eficiência e gestão aliadas à tecnologia</a:t>
            </a:r>
          </a:p>
        </p:txBody>
      </p:sp>
      <p:sp>
        <p:nvSpPr>
          <p:cNvPr id="3" name="Subtítulo 2">
            <a:extLst>
              <a:ext uri="{FF2B5EF4-FFF2-40B4-BE49-F238E27FC236}">
                <a16:creationId xmlns:a16="http://schemas.microsoft.com/office/drawing/2014/main" id="{2D6840B9-2029-9774-0851-44EA61B4FB13}"/>
              </a:ext>
            </a:extLst>
          </p:cNvPr>
          <p:cNvSpPr>
            <a:spLocks noGrp="1"/>
          </p:cNvSpPr>
          <p:nvPr>
            <p:ph type="subTitle" idx="1"/>
          </p:nvPr>
        </p:nvSpPr>
        <p:spPr/>
        <p:txBody>
          <a:bodyPr/>
          <a:lstStyle/>
          <a:p>
            <a:r>
              <a:rPr lang="pt-BR" dirty="0"/>
              <a:t>Projeto integrador – UNIVESP - 2024</a:t>
            </a:r>
          </a:p>
        </p:txBody>
      </p:sp>
    </p:spTree>
    <p:extLst>
      <p:ext uri="{BB962C8B-B14F-4D97-AF65-F5344CB8AC3E}">
        <p14:creationId xmlns:p14="http://schemas.microsoft.com/office/powerpoint/2010/main" val="2865631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BC950FB-1816-66B0-BBF6-F4A94A05C04B}"/>
              </a:ext>
            </a:extLst>
          </p:cNvPr>
          <p:cNvSpPr>
            <a:spLocks noGrp="1"/>
          </p:cNvSpPr>
          <p:nvPr>
            <p:ph type="title"/>
          </p:nvPr>
        </p:nvSpPr>
        <p:spPr/>
        <p:txBody>
          <a:bodyPr/>
          <a:lstStyle/>
          <a:p>
            <a:r>
              <a:rPr lang="pt-BR" dirty="0"/>
              <a:t>Integrantes do grupo</a:t>
            </a:r>
          </a:p>
        </p:txBody>
      </p:sp>
      <p:sp>
        <p:nvSpPr>
          <p:cNvPr id="6" name="CaixaDeTexto 5">
            <a:extLst>
              <a:ext uri="{FF2B5EF4-FFF2-40B4-BE49-F238E27FC236}">
                <a16:creationId xmlns:a16="http://schemas.microsoft.com/office/drawing/2014/main" id="{B2C1B697-F0D3-7EFB-AA98-B6B9A557D286}"/>
              </a:ext>
            </a:extLst>
          </p:cNvPr>
          <p:cNvSpPr txBox="1"/>
          <p:nvPr/>
        </p:nvSpPr>
        <p:spPr>
          <a:xfrm>
            <a:off x="2606992" y="2529118"/>
            <a:ext cx="8911687" cy="2613664"/>
          </a:xfrm>
          <a:prstGeom prst="rect">
            <a:avLst/>
          </a:prstGeom>
          <a:noFill/>
        </p:spPr>
        <p:txBody>
          <a:bodyPr wrap="square">
            <a:spAutoFit/>
          </a:bodyPr>
          <a:lstStyle/>
          <a:p>
            <a:pPr marL="0" indent="0">
              <a:lnSpc>
                <a:spcPct val="115000"/>
              </a:lnSpc>
              <a:buNone/>
            </a:pPr>
            <a:r>
              <a:rPr lang="pt-BR" sz="1800" dirty="0">
                <a:latin typeface="Arial" panose="020B0604020202020204" pitchFamily="34" charset="0"/>
                <a:ea typeface="Arial" panose="020B0604020202020204" pitchFamily="34" charset="0"/>
              </a:rPr>
              <a:t>INTEGRANTES DO DRP09-PJI240-SALA-001-GRUPO-001</a:t>
            </a:r>
            <a:endParaRPr lang="pt-BR" sz="1800" dirty="0">
              <a:effectLst/>
              <a:latin typeface="Arial" panose="020B0604020202020204" pitchFamily="34" charset="0"/>
              <a:ea typeface="Arial" panose="020B0604020202020204" pitchFamily="34" charset="0"/>
            </a:endParaRPr>
          </a:p>
          <a:p>
            <a:pPr marL="0" indent="0">
              <a:lnSpc>
                <a:spcPct val="115000"/>
              </a:lnSpc>
              <a:buNone/>
            </a:pPr>
            <a:r>
              <a:rPr lang="pt-BR" sz="1800" dirty="0">
                <a:effectLst/>
                <a:latin typeface="Arial" panose="020B0604020202020204" pitchFamily="34" charset="0"/>
                <a:ea typeface="Arial" panose="020B0604020202020204" pitchFamily="34" charset="0"/>
              </a:rPr>
              <a:t>1. Ederaldo Malheiros Neto, RA 2204833 </a:t>
            </a:r>
          </a:p>
          <a:p>
            <a:pPr marL="0" indent="0">
              <a:lnSpc>
                <a:spcPct val="115000"/>
              </a:lnSpc>
              <a:buNone/>
            </a:pPr>
            <a:r>
              <a:rPr lang="pt-BR" sz="1800" dirty="0">
                <a:latin typeface="Arial" panose="020B0604020202020204" pitchFamily="34" charset="0"/>
                <a:ea typeface="Arial" panose="020B0604020202020204" pitchFamily="34" charset="0"/>
              </a:rPr>
              <a:t>2. </a:t>
            </a:r>
            <a:r>
              <a:rPr lang="pt-BR" sz="1800" dirty="0">
                <a:effectLst/>
                <a:latin typeface="Arial" panose="020B0604020202020204" pitchFamily="34" charset="0"/>
                <a:ea typeface="Arial" panose="020B0604020202020204" pitchFamily="34" charset="0"/>
              </a:rPr>
              <a:t>Heleno Fabrício Candido Pereira, RA 2213939</a:t>
            </a:r>
          </a:p>
          <a:p>
            <a:pPr marL="0" indent="0">
              <a:lnSpc>
                <a:spcPct val="115000"/>
              </a:lnSpc>
              <a:buNone/>
            </a:pPr>
            <a:r>
              <a:rPr lang="pt-BR" sz="1800" dirty="0">
                <a:latin typeface="Arial" panose="020B0604020202020204" pitchFamily="34" charset="0"/>
                <a:ea typeface="Arial" panose="020B0604020202020204" pitchFamily="34" charset="0"/>
              </a:rPr>
              <a:t>3. </a:t>
            </a:r>
            <a:r>
              <a:rPr lang="pt-BR" sz="1800" dirty="0" err="1">
                <a:effectLst/>
                <a:latin typeface="Arial" panose="020B0604020202020204" pitchFamily="34" charset="0"/>
                <a:ea typeface="Arial" panose="020B0604020202020204" pitchFamily="34" charset="0"/>
              </a:rPr>
              <a:t>Kathellyn</a:t>
            </a:r>
            <a:r>
              <a:rPr lang="pt-BR" sz="1800" dirty="0">
                <a:effectLst/>
                <a:latin typeface="Arial" panose="020B0604020202020204" pitchFamily="34" charset="0"/>
                <a:ea typeface="Arial" panose="020B0604020202020204" pitchFamily="34" charset="0"/>
              </a:rPr>
              <a:t> Aline Inácio, RA 2207327</a:t>
            </a:r>
          </a:p>
          <a:p>
            <a:pPr marL="0" indent="0">
              <a:lnSpc>
                <a:spcPct val="115000"/>
              </a:lnSpc>
              <a:buNone/>
            </a:pPr>
            <a:r>
              <a:rPr lang="pt-BR" sz="1800" dirty="0">
                <a:latin typeface="Arial" panose="020B0604020202020204" pitchFamily="34" charset="0"/>
                <a:ea typeface="Arial" panose="020B0604020202020204" pitchFamily="34" charset="0"/>
              </a:rPr>
              <a:t>4. </a:t>
            </a:r>
            <a:r>
              <a:rPr lang="pt-BR" sz="1800" dirty="0">
                <a:effectLst/>
                <a:latin typeface="Arial" panose="020B0604020202020204" pitchFamily="34" charset="0"/>
                <a:ea typeface="Arial" panose="020B0604020202020204" pitchFamily="34" charset="0"/>
              </a:rPr>
              <a:t>Luana Tita de Mendonça, RA 2201810</a:t>
            </a:r>
          </a:p>
          <a:p>
            <a:pPr marL="0" indent="0">
              <a:lnSpc>
                <a:spcPct val="115000"/>
              </a:lnSpc>
              <a:buNone/>
            </a:pPr>
            <a:r>
              <a:rPr lang="pt-BR" dirty="0">
                <a:latin typeface="Arial" panose="020B0604020202020204" pitchFamily="34" charset="0"/>
                <a:ea typeface="Arial" panose="020B0604020202020204" pitchFamily="34" charset="0"/>
              </a:rPr>
              <a:t>5. Mateus Alves, RA 2107666</a:t>
            </a:r>
            <a:endParaRPr lang="pt-BR" sz="1800" dirty="0">
              <a:effectLst/>
              <a:latin typeface="Arial" panose="020B0604020202020204" pitchFamily="34" charset="0"/>
              <a:ea typeface="Arial" panose="020B0604020202020204" pitchFamily="34" charset="0"/>
            </a:endParaRPr>
          </a:p>
          <a:p>
            <a:pPr marL="0" indent="0">
              <a:lnSpc>
                <a:spcPct val="115000"/>
              </a:lnSpc>
              <a:buNone/>
            </a:pPr>
            <a:r>
              <a:rPr lang="pt-BR" sz="1800" dirty="0">
                <a:effectLst/>
                <a:latin typeface="Arial" panose="020B0604020202020204" pitchFamily="34" charset="0"/>
                <a:ea typeface="Arial" panose="020B0604020202020204" pitchFamily="34" charset="0"/>
              </a:rPr>
              <a:t>6. Ricardo Carlos Seabra de Andrade, RA 2219731</a:t>
            </a:r>
          </a:p>
          <a:p>
            <a:pPr marL="0" indent="0">
              <a:lnSpc>
                <a:spcPct val="115000"/>
              </a:lnSpc>
              <a:buNone/>
            </a:pPr>
            <a:r>
              <a:rPr lang="pt-BR" sz="1800" dirty="0">
                <a:latin typeface="Arial" panose="020B0604020202020204" pitchFamily="34" charset="0"/>
                <a:ea typeface="Arial" panose="020B0604020202020204" pitchFamily="34" charset="0"/>
              </a:rPr>
              <a:t>7. </a:t>
            </a:r>
            <a:r>
              <a:rPr lang="pt-BR" sz="1800" dirty="0">
                <a:effectLst/>
                <a:latin typeface="Arial" panose="020B0604020202020204" pitchFamily="34" charset="0"/>
                <a:ea typeface="Arial" panose="020B0604020202020204" pitchFamily="34" charset="0"/>
              </a:rPr>
              <a:t>Rodrigo Garcia, RA 1833314</a:t>
            </a:r>
          </a:p>
        </p:txBody>
      </p:sp>
    </p:spTree>
    <p:extLst>
      <p:ext uri="{BB962C8B-B14F-4D97-AF65-F5344CB8AC3E}">
        <p14:creationId xmlns:p14="http://schemas.microsoft.com/office/powerpoint/2010/main" val="2727543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911CA88-F44C-E60E-5708-2FA7B7FA7A95}"/>
              </a:ext>
            </a:extLst>
          </p:cNvPr>
          <p:cNvSpPr>
            <a:spLocks noGrp="1"/>
          </p:cNvSpPr>
          <p:nvPr>
            <p:ph type="title"/>
          </p:nvPr>
        </p:nvSpPr>
        <p:spPr/>
        <p:txBody>
          <a:bodyPr/>
          <a:lstStyle/>
          <a:p>
            <a:r>
              <a:rPr lang="pt-BR" dirty="0"/>
              <a:t>                     Justificativa</a:t>
            </a:r>
          </a:p>
        </p:txBody>
      </p:sp>
      <p:sp>
        <p:nvSpPr>
          <p:cNvPr id="4" name="Espaço Reservado para Conteúdo 3">
            <a:extLst>
              <a:ext uri="{FF2B5EF4-FFF2-40B4-BE49-F238E27FC236}">
                <a16:creationId xmlns:a16="http://schemas.microsoft.com/office/drawing/2014/main" id="{4FFDE456-1CD7-766B-88BC-5D3E063B5B9E}"/>
              </a:ext>
            </a:extLst>
          </p:cNvPr>
          <p:cNvSpPr>
            <a:spLocks noGrp="1"/>
          </p:cNvSpPr>
          <p:nvPr>
            <p:ph idx="1"/>
          </p:nvPr>
        </p:nvSpPr>
        <p:spPr/>
        <p:txBody>
          <a:bodyPr>
            <a:normAutofit lnSpcReduction="10000"/>
          </a:bodyPr>
          <a:lstStyle/>
          <a:p>
            <a:pPr marL="0" indent="0">
              <a:buNone/>
            </a:pPr>
            <a:endParaRPr lang="pt-BR" dirty="0"/>
          </a:p>
          <a:p>
            <a:pPr marL="0" indent="0" algn="just">
              <a:buNone/>
            </a:pPr>
            <a:r>
              <a:rPr lang="pt-BR" dirty="0"/>
              <a:t>Este projeto de pesquisa, visando melhorar a gestão e eficiência na prestação de serviços em uma oficina de bombas injetoras diesel, desenvolveu um software capaz de melhorar o agendamento e atendimento ao cliente, a prestação de serviços de manutenção e reparação de bombas injetoras, o controle de estoque de peças e a gestão financeira. Desse modo, criou-se um sistema de web em que o proprietário pode inserir, atualizar, remover ou alterar dados de seu banco de dados em tempo real, a fim de proporcionar maior controle, segurança e eficiência nos negócios. </a:t>
            </a:r>
          </a:p>
          <a:p>
            <a:pPr marL="0" indent="0" algn="just">
              <a:buNone/>
            </a:pPr>
            <a:r>
              <a:rPr lang="pt-BR" dirty="0"/>
              <a:t>Como objeto de pesquisa, contemplamos a oficina de bomba injetora Eletrônica Diesel, situada na Avenida Martinho Gerhard </a:t>
            </a:r>
            <a:r>
              <a:rPr lang="pt-BR" dirty="0" err="1"/>
              <a:t>Rolfssen</a:t>
            </a:r>
            <a:r>
              <a:rPr lang="pt-BR" dirty="0"/>
              <a:t> nº 300, Bairro Carmo, Araraquara/SP, que tem como proprietário Jurandir do Carmo Pereira.</a:t>
            </a:r>
          </a:p>
          <a:p>
            <a:pPr marL="0" indent="0">
              <a:buNone/>
            </a:pPr>
            <a:endParaRPr lang="pt-BR" dirty="0"/>
          </a:p>
        </p:txBody>
      </p:sp>
    </p:spTree>
    <p:extLst>
      <p:ext uri="{BB962C8B-B14F-4D97-AF65-F5344CB8AC3E}">
        <p14:creationId xmlns:p14="http://schemas.microsoft.com/office/powerpoint/2010/main" val="2988594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41C0E8-EE42-6738-BC55-514E75EDE906}"/>
              </a:ext>
            </a:extLst>
          </p:cNvPr>
          <p:cNvSpPr>
            <a:spLocks noGrp="1"/>
          </p:cNvSpPr>
          <p:nvPr>
            <p:ph type="title"/>
          </p:nvPr>
        </p:nvSpPr>
        <p:spPr/>
        <p:txBody>
          <a:bodyPr>
            <a:normAutofit fontScale="90000"/>
          </a:bodyPr>
          <a:lstStyle/>
          <a:p>
            <a:r>
              <a:rPr lang="pt-BR" sz="2700" dirty="0"/>
              <a:t>Pátio da oficina – a foto mostra veículos à esquerda em manutenção, ao centro aguardando atendimento e à direita cumprindo agendamento de serviço.</a:t>
            </a:r>
            <a:br>
              <a:rPr lang="pt-BR" dirty="0"/>
            </a:br>
            <a:endParaRPr lang="pt-BR" dirty="0"/>
          </a:p>
        </p:txBody>
      </p:sp>
      <p:pic>
        <p:nvPicPr>
          <p:cNvPr id="5" name="Imagem 4">
            <a:extLst>
              <a:ext uri="{FF2B5EF4-FFF2-40B4-BE49-F238E27FC236}">
                <a16:creationId xmlns:a16="http://schemas.microsoft.com/office/drawing/2014/main" id="{050D1957-0E57-A356-7AF7-668F38AC4610}"/>
              </a:ext>
            </a:extLst>
          </p:cNvPr>
          <p:cNvPicPr>
            <a:picLocks noChangeAspect="1"/>
          </p:cNvPicPr>
          <p:nvPr/>
        </p:nvPicPr>
        <p:blipFill>
          <a:blip r:embed="rId2"/>
          <a:stretch>
            <a:fillRect/>
          </a:stretch>
        </p:blipFill>
        <p:spPr>
          <a:xfrm>
            <a:off x="2717800" y="2044700"/>
            <a:ext cx="8521700" cy="3920490"/>
          </a:xfrm>
          <a:prstGeom prst="rect">
            <a:avLst/>
          </a:prstGeom>
        </p:spPr>
      </p:pic>
      <p:sp>
        <p:nvSpPr>
          <p:cNvPr id="7" name="Retângulo 6">
            <a:extLst>
              <a:ext uri="{FF2B5EF4-FFF2-40B4-BE49-F238E27FC236}">
                <a16:creationId xmlns:a16="http://schemas.microsoft.com/office/drawing/2014/main" id="{0341AEFF-A258-4908-6DFF-48CF3342CD2F}"/>
              </a:ext>
            </a:extLst>
          </p:cNvPr>
          <p:cNvSpPr/>
          <p:nvPr/>
        </p:nvSpPr>
        <p:spPr>
          <a:xfrm>
            <a:off x="4679266" y="3914775"/>
            <a:ext cx="505509" cy="101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pt-BR"/>
          </a:p>
        </p:txBody>
      </p:sp>
      <p:sp>
        <p:nvSpPr>
          <p:cNvPr id="8" name="Retângulo 7">
            <a:extLst>
              <a:ext uri="{FF2B5EF4-FFF2-40B4-BE49-F238E27FC236}">
                <a16:creationId xmlns:a16="http://schemas.microsoft.com/office/drawing/2014/main" id="{9D090335-2BF2-1BEA-5917-E7D7F8CFFFAB}"/>
              </a:ext>
            </a:extLst>
          </p:cNvPr>
          <p:cNvSpPr/>
          <p:nvPr/>
        </p:nvSpPr>
        <p:spPr>
          <a:xfrm flipV="1">
            <a:off x="6872421" y="3597275"/>
            <a:ext cx="212457" cy="11557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pt-BR"/>
          </a:p>
        </p:txBody>
      </p:sp>
      <p:sp>
        <p:nvSpPr>
          <p:cNvPr id="9" name="Retângulo 8">
            <a:extLst>
              <a:ext uri="{FF2B5EF4-FFF2-40B4-BE49-F238E27FC236}">
                <a16:creationId xmlns:a16="http://schemas.microsoft.com/office/drawing/2014/main" id="{8E28DC8D-5A80-7F05-B905-650331F6E92C}"/>
              </a:ext>
            </a:extLst>
          </p:cNvPr>
          <p:cNvSpPr/>
          <p:nvPr/>
        </p:nvSpPr>
        <p:spPr>
          <a:xfrm>
            <a:off x="7938769" y="3655060"/>
            <a:ext cx="141606" cy="755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pt-BR"/>
          </a:p>
        </p:txBody>
      </p:sp>
      <p:sp>
        <p:nvSpPr>
          <p:cNvPr id="10" name="Retângulo 9">
            <a:extLst>
              <a:ext uri="{FF2B5EF4-FFF2-40B4-BE49-F238E27FC236}">
                <a16:creationId xmlns:a16="http://schemas.microsoft.com/office/drawing/2014/main" id="{A7CFA509-7F5D-8C3E-6505-879BEE999CC4}"/>
              </a:ext>
            </a:extLst>
          </p:cNvPr>
          <p:cNvSpPr/>
          <p:nvPr/>
        </p:nvSpPr>
        <p:spPr>
          <a:xfrm>
            <a:off x="5791200" y="3317875"/>
            <a:ext cx="304800" cy="539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pt-BR"/>
          </a:p>
        </p:txBody>
      </p:sp>
    </p:spTree>
    <p:extLst>
      <p:ext uri="{BB962C8B-B14F-4D97-AF65-F5344CB8AC3E}">
        <p14:creationId xmlns:p14="http://schemas.microsoft.com/office/powerpoint/2010/main" val="2547578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2B0A674A-B0F5-7F4D-0C07-5B1F790B1601}"/>
              </a:ext>
            </a:extLst>
          </p:cNvPr>
          <p:cNvSpPr>
            <a:spLocks noGrp="1"/>
          </p:cNvSpPr>
          <p:nvPr>
            <p:ph type="title"/>
          </p:nvPr>
        </p:nvSpPr>
        <p:spPr/>
        <p:txBody>
          <a:bodyPr>
            <a:normAutofit fontScale="90000"/>
          </a:bodyPr>
          <a:lstStyle/>
          <a:p>
            <a:pPr algn="just"/>
            <a:r>
              <a:rPr lang="pt-BR" sz="1600" b="1" dirty="0"/>
              <a:t>Controle de estoque de peças no interior da oficina</a:t>
            </a:r>
            <a:r>
              <a:rPr lang="pt-BR" sz="1600" dirty="0"/>
              <a:t> – a foto mostra no canto superior esquerdo uma estante de aço toda etiquetada, contendo várias peças organizadas em códigos e descrições. No canto inferior esquerdo mostra uma das divisórias da estante organizada em jogos de reparo do regulador e corpo regulador do motor Yanmar moderno. No canto inferior direito o notebook da oficina, mostrando em sua tela a planilha de controle de estoque de peças.</a:t>
            </a:r>
          </a:p>
        </p:txBody>
      </p:sp>
      <p:pic>
        <p:nvPicPr>
          <p:cNvPr id="2" name="Imagem 1">
            <a:extLst>
              <a:ext uri="{FF2B5EF4-FFF2-40B4-BE49-F238E27FC236}">
                <a16:creationId xmlns:a16="http://schemas.microsoft.com/office/drawing/2014/main" id="{64EED735-BB0E-E9DE-B0DA-EA3B6257AB8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38425" y="3562350"/>
            <a:ext cx="4510600" cy="3033784"/>
          </a:xfrm>
          <a:prstGeom prst="rect">
            <a:avLst/>
          </a:prstGeom>
          <a:noFill/>
          <a:ln>
            <a:noFill/>
          </a:ln>
        </p:spPr>
      </p:pic>
      <p:pic>
        <p:nvPicPr>
          <p:cNvPr id="3" name="Imagem 2">
            <a:extLst>
              <a:ext uri="{FF2B5EF4-FFF2-40B4-BE49-F238E27FC236}">
                <a16:creationId xmlns:a16="http://schemas.microsoft.com/office/drawing/2014/main" id="{C3D5286E-84B6-96AE-557D-8F63F393B2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96598" y="1905000"/>
            <a:ext cx="3104127" cy="3108960"/>
          </a:xfrm>
          <a:prstGeom prst="rect">
            <a:avLst/>
          </a:prstGeom>
          <a:noFill/>
          <a:ln>
            <a:noFill/>
          </a:ln>
        </p:spPr>
      </p:pic>
      <p:pic>
        <p:nvPicPr>
          <p:cNvPr id="7" name="Imagem 6">
            <a:extLst>
              <a:ext uri="{FF2B5EF4-FFF2-40B4-BE49-F238E27FC236}">
                <a16:creationId xmlns:a16="http://schemas.microsoft.com/office/drawing/2014/main" id="{00DA5BCE-EB33-D32D-1DD3-B8414FDA46B6}"/>
              </a:ext>
            </a:extLst>
          </p:cNvPr>
          <p:cNvPicPr>
            <a:picLocks noChangeAspect="1"/>
          </p:cNvPicPr>
          <p:nvPr/>
        </p:nvPicPr>
        <p:blipFill>
          <a:blip r:embed="rId4"/>
          <a:stretch>
            <a:fillRect/>
          </a:stretch>
        </p:blipFill>
        <p:spPr>
          <a:xfrm>
            <a:off x="2696598" y="5292969"/>
            <a:ext cx="3104126" cy="1303165"/>
          </a:xfrm>
          <a:prstGeom prst="rect">
            <a:avLst/>
          </a:prstGeom>
        </p:spPr>
      </p:pic>
    </p:spTree>
    <p:extLst>
      <p:ext uri="{BB962C8B-B14F-4D97-AF65-F5344CB8AC3E}">
        <p14:creationId xmlns:p14="http://schemas.microsoft.com/office/powerpoint/2010/main" val="1670723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FF725F-2E53-0A33-9F7E-D335676622E0}"/>
              </a:ext>
            </a:extLst>
          </p:cNvPr>
          <p:cNvSpPr>
            <a:spLocks noGrp="1"/>
          </p:cNvSpPr>
          <p:nvPr>
            <p:ph type="title"/>
          </p:nvPr>
        </p:nvSpPr>
        <p:spPr/>
        <p:txBody>
          <a:bodyPr>
            <a:normAutofit/>
          </a:bodyPr>
          <a:lstStyle/>
          <a:p>
            <a:r>
              <a:rPr lang="pt-BR" sz="1800" u="sng" dirty="0"/>
              <a:t>Sala da administração da oficina</a:t>
            </a:r>
            <a:r>
              <a:rPr lang="pt-BR" sz="1800" dirty="0"/>
              <a:t> - a foto mostra à esquerda e sobre a mesa da administração uma calculadora, vários documentos e um notebook. À direita mostra um notebook e em sua tela a planilha de </a:t>
            </a:r>
            <a:r>
              <a:rPr lang="pt-BR" sz="1800" b="1" dirty="0"/>
              <a:t>controle financeiro</a:t>
            </a:r>
            <a:r>
              <a:rPr lang="pt-BR" sz="1800" dirty="0"/>
              <a:t> da oficina. </a:t>
            </a:r>
          </a:p>
        </p:txBody>
      </p:sp>
      <p:pic>
        <p:nvPicPr>
          <p:cNvPr id="3" name="Imagem 2">
            <a:extLst>
              <a:ext uri="{FF2B5EF4-FFF2-40B4-BE49-F238E27FC236}">
                <a16:creationId xmlns:a16="http://schemas.microsoft.com/office/drawing/2014/main" id="{716F4145-BDF3-99C9-1B93-DB435E1014F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68600" y="2059623"/>
            <a:ext cx="3644900" cy="3840480"/>
          </a:xfrm>
          <a:prstGeom prst="rect">
            <a:avLst/>
          </a:prstGeom>
          <a:noFill/>
          <a:ln>
            <a:noFill/>
          </a:ln>
        </p:spPr>
      </p:pic>
      <p:pic>
        <p:nvPicPr>
          <p:cNvPr id="5" name="Imagem 4">
            <a:extLst>
              <a:ext uri="{FF2B5EF4-FFF2-40B4-BE49-F238E27FC236}">
                <a16:creationId xmlns:a16="http://schemas.microsoft.com/office/drawing/2014/main" id="{02FFD5A6-E80B-C800-D2B0-AE7DB0BBC4F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95539" y="2059622"/>
            <a:ext cx="4009071" cy="3840480"/>
          </a:xfrm>
          <a:prstGeom prst="rect">
            <a:avLst/>
          </a:prstGeom>
          <a:noFill/>
          <a:ln>
            <a:noFill/>
          </a:ln>
        </p:spPr>
      </p:pic>
    </p:spTree>
    <p:extLst>
      <p:ext uri="{BB962C8B-B14F-4D97-AF65-F5344CB8AC3E}">
        <p14:creationId xmlns:p14="http://schemas.microsoft.com/office/powerpoint/2010/main" val="1924470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81C334-DEB7-1ED3-08EB-8A91E2ECE8FD}"/>
              </a:ext>
            </a:extLst>
          </p:cNvPr>
          <p:cNvSpPr>
            <a:spLocks noGrp="1"/>
          </p:cNvSpPr>
          <p:nvPr>
            <p:ph type="title"/>
          </p:nvPr>
        </p:nvSpPr>
        <p:spPr/>
        <p:txBody>
          <a:bodyPr/>
          <a:lstStyle/>
          <a:p>
            <a:pPr algn="ctr"/>
            <a:r>
              <a:rPr lang="pt-BR" dirty="0"/>
              <a:t>Lista de arquivos</a:t>
            </a:r>
          </a:p>
        </p:txBody>
      </p:sp>
      <p:pic>
        <p:nvPicPr>
          <p:cNvPr id="4" name="Imagem 3">
            <a:extLst>
              <a:ext uri="{FF2B5EF4-FFF2-40B4-BE49-F238E27FC236}">
                <a16:creationId xmlns:a16="http://schemas.microsoft.com/office/drawing/2014/main" id="{7DAF7FE9-A2A2-1D5A-65AF-5BD3FB200601}"/>
              </a:ext>
            </a:extLst>
          </p:cNvPr>
          <p:cNvPicPr>
            <a:picLocks noChangeAspect="1"/>
          </p:cNvPicPr>
          <p:nvPr/>
        </p:nvPicPr>
        <p:blipFill>
          <a:blip r:embed="rId2"/>
          <a:stretch>
            <a:fillRect/>
          </a:stretch>
        </p:blipFill>
        <p:spPr>
          <a:xfrm>
            <a:off x="4572000" y="1463041"/>
            <a:ext cx="4754879" cy="5050302"/>
          </a:xfrm>
          <a:prstGeom prst="rect">
            <a:avLst/>
          </a:prstGeom>
        </p:spPr>
      </p:pic>
    </p:spTree>
    <p:extLst>
      <p:ext uri="{BB962C8B-B14F-4D97-AF65-F5344CB8AC3E}">
        <p14:creationId xmlns:p14="http://schemas.microsoft.com/office/powerpoint/2010/main" val="2795538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C4713BE9-F5E5-3A9E-F758-21B465744992}"/>
              </a:ext>
            </a:extLst>
          </p:cNvPr>
          <p:cNvSpPr>
            <a:spLocks noGrp="1"/>
          </p:cNvSpPr>
          <p:nvPr>
            <p:ph type="title"/>
          </p:nvPr>
        </p:nvSpPr>
        <p:spPr/>
        <p:txBody>
          <a:bodyPr/>
          <a:lstStyle/>
          <a:p>
            <a:pPr algn="ctr"/>
            <a:r>
              <a:rPr lang="pt-BR" dirty="0"/>
              <a:t>Códigos</a:t>
            </a:r>
          </a:p>
        </p:txBody>
      </p:sp>
      <p:pic>
        <p:nvPicPr>
          <p:cNvPr id="7" name="Espaço Reservado para Conteúdo 6">
            <a:extLst>
              <a:ext uri="{FF2B5EF4-FFF2-40B4-BE49-F238E27FC236}">
                <a16:creationId xmlns:a16="http://schemas.microsoft.com/office/drawing/2014/main" id="{FBB72D55-1B8D-570A-E6C3-311E6AC602BF}"/>
              </a:ext>
            </a:extLst>
          </p:cNvPr>
          <p:cNvPicPr>
            <a:picLocks noGrp="1" noChangeAspect="1"/>
          </p:cNvPicPr>
          <p:nvPr>
            <p:ph sz="half" idx="1"/>
          </p:nvPr>
        </p:nvPicPr>
        <p:blipFill>
          <a:blip r:embed="rId2"/>
          <a:stretch>
            <a:fillRect/>
          </a:stretch>
        </p:blipFill>
        <p:spPr>
          <a:xfrm>
            <a:off x="3040855" y="1448972"/>
            <a:ext cx="4035193" cy="5022166"/>
          </a:xfrm>
        </p:spPr>
      </p:pic>
      <p:pic>
        <p:nvPicPr>
          <p:cNvPr id="9" name="Espaço Reservado para Conteúdo 8">
            <a:extLst>
              <a:ext uri="{FF2B5EF4-FFF2-40B4-BE49-F238E27FC236}">
                <a16:creationId xmlns:a16="http://schemas.microsoft.com/office/drawing/2014/main" id="{95BD6ABC-6FE1-CFC3-C4A2-8ACDAF1A8C4C}"/>
              </a:ext>
            </a:extLst>
          </p:cNvPr>
          <p:cNvPicPr>
            <a:picLocks noGrp="1" noChangeAspect="1"/>
          </p:cNvPicPr>
          <p:nvPr>
            <p:ph sz="half" idx="2"/>
          </p:nvPr>
        </p:nvPicPr>
        <p:blipFill>
          <a:blip r:embed="rId3"/>
          <a:stretch>
            <a:fillRect/>
          </a:stretch>
        </p:blipFill>
        <p:spPr>
          <a:xfrm>
            <a:off x="7452518" y="1448972"/>
            <a:ext cx="4434681" cy="5022166"/>
          </a:xfrm>
        </p:spPr>
      </p:pic>
    </p:spTree>
    <p:extLst>
      <p:ext uri="{BB962C8B-B14F-4D97-AF65-F5344CB8AC3E}">
        <p14:creationId xmlns:p14="http://schemas.microsoft.com/office/powerpoint/2010/main" val="2468639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B84A30-8C33-45CE-11F3-0AE5CB94E2DD}"/>
              </a:ext>
            </a:extLst>
          </p:cNvPr>
          <p:cNvSpPr>
            <a:spLocks noGrp="1"/>
          </p:cNvSpPr>
          <p:nvPr>
            <p:ph type="title"/>
          </p:nvPr>
        </p:nvSpPr>
        <p:spPr/>
        <p:txBody>
          <a:bodyPr/>
          <a:lstStyle/>
          <a:p>
            <a:r>
              <a:rPr lang="pt-BR" dirty="0"/>
              <a:t>Continuação dos códigos</a:t>
            </a:r>
          </a:p>
        </p:txBody>
      </p:sp>
      <p:pic>
        <p:nvPicPr>
          <p:cNvPr id="6" name="Espaço Reservado para Conteúdo 5">
            <a:extLst>
              <a:ext uri="{FF2B5EF4-FFF2-40B4-BE49-F238E27FC236}">
                <a16:creationId xmlns:a16="http://schemas.microsoft.com/office/drawing/2014/main" id="{0CD36A55-DFEF-EA5E-9BA7-A2077FD60355}"/>
              </a:ext>
            </a:extLst>
          </p:cNvPr>
          <p:cNvPicPr>
            <a:picLocks noGrp="1" noChangeAspect="1"/>
          </p:cNvPicPr>
          <p:nvPr>
            <p:ph sz="half" idx="1"/>
          </p:nvPr>
        </p:nvPicPr>
        <p:blipFill>
          <a:blip r:embed="rId2"/>
          <a:stretch>
            <a:fillRect/>
          </a:stretch>
        </p:blipFill>
        <p:spPr>
          <a:xfrm>
            <a:off x="2589213" y="1589650"/>
            <a:ext cx="4458701" cy="4543864"/>
          </a:xfrm>
        </p:spPr>
      </p:pic>
      <p:pic>
        <p:nvPicPr>
          <p:cNvPr id="8" name="Espaço Reservado para Conteúdo 7">
            <a:extLst>
              <a:ext uri="{FF2B5EF4-FFF2-40B4-BE49-F238E27FC236}">
                <a16:creationId xmlns:a16="http://schemas.microsoft.com/office/drawing/2014/main" id="{0742F3CF-0A3A-8D00-30DA-80FF96FBEF21}"/>
              </a:ext>
            </a:extLst>
          </p:cNvPr>
          <p:cNvPicPr>
            <a:picLocks noGrp="1" noChangeAspect="1"/>
          </p:cNvPicPr>
          <p:nvPr>
            <p:ph sz="half" idx="2"/>
          </p:nvPr>
        </p:nvPicPr>
        <p:blipFill>
          <a:blip r:embed="rId3"/>
          <a:stretch>
            <a:fillRect/>
          </a:stretch>
        </p:blipFill>
        <p:spPr>
          <a:xfrm>
            <a:off x="7373436" y="1589649"/>
            <a:ext cx="4458701" cy="4543865"/>
          </a:xfrm>
        </p:spPr>
      </p:pic>
    </p:spTree>
    <p:extLst>
      <p:ext uri="{BB962C8B-B14F-4D97-AF65-F5344CB8AC3E}">
        <p14:creationId xmlns:p14="http://schemas.microsoft.com/office/powerpoint/2010/main" val="146569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CFDFC9-9C24-FA5F-3434-FB9EB5E38F19}"/>
              </a:ext>
            </a:extLst>
          </p:cNvPr>
          <p:cNvSpPr>
            <a:spLocks noGrp="1"/>
          </p:cNvSpPr>
          <p:nvPr>
            <p:ph type="title"/>
          </p:nvPr>
        </p:nvSpPr>
        <p:spPr/>
        <p:txBody>
          <a:bodyPr/>
          <a:lstStyle/>
          <a:p>
            <a:r>
              <a:rPr lang="pt-BR" dirty="0"/>
              <a:t>Continuação dos códigos</a:t>
            </a:r>
          </a:p>
        </p:txBody>
      </p:sp>
      <p:pic>
        <p:nvPicPr>
          <p:cNvPr id="6" name="Espaço Reservado para Conteúdo 5">
            <a:extLst>
              <a:ext uri="{FF2B5EF4-FFF2-40B4-BE49-F238E27FC236}">
                <a16:creationId xmlns:a16="http://schemas.microsoft.com/office/drawing/2014/main" id="{6C93CBEA-3578-C29C-9AD8-024AF4297487}"/>
              </a:ext>
            </a:extLst>
          </p:cNvPr>
          <p:cNvPicPr>
            <a:picLocks noGrp="1" noChangeAspect="1"/>
          </p:cNvPicPr>
          <p:nvPr>
            <p:ph sz="half" idx="1"/>
          </p:nvPr>
        </p:nvPicPr>
        <p:blipFill>
          <a:blip r:embed="rId2"/>
          <a:stretch>
            <a:fillRect/>
          </a:stretch>
        </p:blipFill>
        <p:spPr>
          <a:xfrm>
            <a:off x="2589213" y="1350499"/>
            <a:ext cx="4768190" cy="5275384"/>
          </a:xfrm>
        </p:spPr>
      </p:pic>
      <p:pic>
        <p:nvPicPr>
          <p:cNvPr id="8" name="Espaço Reservado para Conteúdo 7">
            <a:extLst>
              <a:ext uri="{FF2B5EF4-FFF2-40B4-BE49-F238E27FC236}">
                <a16:creationId xmlns:a16="http://schemas.microsoft.com/office/drawing/2014/main" id="{2055D24E-AB2E-37BC-CD18-DC79AF6D7C29}"/>
              </a:ext>
            </a:extLst>
          </p:cNvPr>
          <p:cNvPicPr>
            <a:picLocks noGrp="1" noChangeAspect="1"/>
          </p:cNvPicPr>
          <p:nvPr>
            <p:ph sz="half" idx="2"/>
          </p:nvPr>
        </p:nvPicPr>
        <p:blipFill>
          <a:blip r:embed="rId3"/>
          <a:stretch>
            <a:fillRect/>
          </a:stretch>
        </p:blipFill>
        <p:spPr>
          <a:xfrm>
            <a:off x="7540283" y="1350499"/>
            <a:ext cx="3657599" cy="5275384"/>
          </a:xfrm>
        </p:spPr>
      </p:pic>
    </p:spTree>
    <p:extLst>
      <p:ext uri="{BB962C8B-B14F-4D97-AF65-F5344CB8AC3E}">
        <p14:creationId xmlns:p14="http://schemas.microsoft.com/office/powerpoint/2010/main" val="630207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29AB4AA1-285E-683C-8EA1-22A4AE21839D}"/>
              </a:ext>
            </a:extLst>
          </p:cNvPr>
          <p:cNvSpPr>
            <a:spLocks noGrp="1"/>
          </p:cNvSpPr>
          <p:nvPr>
            <p:ph type="title"/>
          </p:nvPr>
        </p:nvSpPr>
        <p:spPr/>
        <p:txBody>
          <a:bodyPr/>
          <a:lstStyle/>
          <a:p>
            <a:r>
              <a:rPr lang="pt-BR" dirty="0"/>
              <a:t>                GitHub </a:t>
            </a:r>
            <a:r>
              <a:rPr lang="pt-BR" dirty="0" err="1"/>
              <a:t>branch</a:t>
            </a:r>
            <a:r>
              <a:rPr lang="pt-BR" dirty="0"/>
              <a:t> </a:t>
            </a:r>
            <a:r>
              <a:rPr lang="pt-BR" dirty="0" err="1"/>
              <a:t>main</a:t>
            </a:r>
            <a:endParaRPr lang="pt-BR" dirty="0"/>
          </a:p>
        </p:txBody>
      </p:sp>
      <p:pic>
        <p:nvPicPr>
          <p:cNvPr id="12" name="Espaço Reservado para Conteúdo 11">
            <a:extLst>
              <a:ext uri="{FF2B5EF4-FFF2-40B4-BE49-F238E27FC236}">
                <a16:creationId xmlns:a16="http://schemas.microsoft.com/office/drawing/2014/main" id="{D4DA3269-5AC7-5604-3BBE-DE43313BAC30}"/>
              </a:ext>
            </a:extLst>
          </p:cNvPr>
          <p:cNvPicPr>
            <a:picLocks noGrp="1" noChangeAspect="1"/>
          </p:cNvPicPr>
          <p:nvPr>
            <p:ph idx="1"/>
          </p:nvPr>
        </p:nvPicPr>
        <p:blipFill>
          <a:blip r:embed="rId2"/>
          <a:stretch>
            <a:fillRect/>
          </a:stretch>
        </p:blipFill>
        <p:spPr>
          <a:xfrm>
            <a:off x="2592925" y="1336432"/>
            <a:ext cx="9308343" cy="5303520"/>
          </a:xfrm>
        </p:spPr>
      </p:pic>
    </p:spTree>
    <p:extLst>
      <p:ext uri="{BB962C8B-B14F-4D97-AF65-F5344CB8AC3E}">
        <p14:creationId xmlns:p14="http://schemas.microsoft.com/office/powerpoint/2010/main" val="2992806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CF11F3-92E5-79A6-A936-4D004D893555}"/>
              </a:ext>
            </a:extLst>
          </p:cNvPr>
          <p:cNvSpPr>
            <a:spLocks noGrp="1"/>
          </p:cNvSpPr>
          <p:nvPr>
            <p:ph type="title"/>
          </p:nvPr>
        </p:nvSpPr>
        <p:spPr/>
        <p:txBody>
          <a:bodyPr/>
          <a:lstStyle/>
          <a:p>
            <a:r>
              <a:rPr lang="pt-BR" dirty="0"/>
              <a:t>              GitHub </a:t>
            </a:r>
            <a:r>
              <a:rPr lang="pt-BR" dirty="0" err="1"/>
              <a:t>branch</a:t>
            </a:r>
            <a:r>
              <a:rPr lang="pt-BR" dirty="0"/>
              <a:t> master </a:t>
            </a:r>
          </a:p>
        </p:txBody>
      </p:sp>
      <p:pic>
        <p:nvPicPr>
          <p:cNvPr id="9" name="Espaço Reservado para Conteúdo 8">
            <a:extLst>
              <a:ext uri="{FF2B5EF4-FFF2-40B4-BE49-F238E27FC236}">
                <a16:creationId xmlns:a16="http://schemas.microsoft.com/office/drawing/2014/main" id="{90829007-A2B8-4CFE-1895-9242CDAFFF6E}"/>
              </a:ext>
            </a:extLst>
          </p:cNvPr>
          <p:cNvPicPr>
            <a:picLocks noGrp="1" noChangeAspect="1"/>
          </p:cNvPicPr>
          <p:nvPr>
            <p:ph idx="1"/>
          </p:nvPr>
        </p:nvPicPr>
        <p:blipFill>
          <a:blip r:embed="rId2"/>
          <a:stretch>
            <a:fillRect/>
          </a:stretch>
        </p:blipFill>
        <p:spPr>
          <a:xfrm>
            <a:off x="2592926" y="1406770"/>
            <a:ext cx="9280206" cy="5190978"/>
          </a:xfrm>
        </p:spPr>
      </p:pic>
    </p:spTree>
    <p:extLst>
      <p:ext uri="{BB962C8B-B14F-4D97-AF65-F5344CB8AC3E}">
        <p14:creationId xmlns:p14="http://schemas.microsoft.com/office/powerpoint/2010/main" val="4086820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F55B8F-D3D8-B8D3-EBDD-832C6604F7FC}"/>
              </a:ext>
            </a:extLst>
          </p:cNvPr>
          <p:cNvSpPr>
            <a:spLocks noGrp="1"/>
          </p:cNvSpPr>
          <p:nvPr>
            <p:ph type="title"/>
          </p:nvPr>
        </p:nvSpPr>
        <p:spPr/>
        <p:txBody>
          <a:bodyPr/>
          <a:lstStyle/>
          <a:p>
            <a:r>
              <a:rPr lang="pt-BR" dirty="0"/>
              <a:t>                GitHub </a:t>
            </a:r>
            <a:r>
              <a:rPr lang="pt-BR" dirty="0" err="1"/>
              <a:t>branch</a:t>
            </a:r>
            <a:r>
              <a:rPr lang="pt-BR" dirty="0"/>
              <a:t> teste</a:t>
            </a:r>
          </a:p>
        </p:txBody>
      </p:sp>
      <p:pic>
        <p:nvPicPr>
          <p:cNvPr id="5" name="Espaço Reservado para Conteúdo 4">
            <a:extLst>
              <a:ext uri="{FF2B5EF4-FFF2-40B4-BE49-F238E27FC236}">
                <a16:creationId xmlns:a16="http://schemas.microsoft.com/office/drawing/2014/main" id="{84333B46-0D16-0F90-9C73-8396C9CEBDB7}"/>
              </a:ext>
            </a:extLst>
          </p:cNvPr>
          <p:cNvPicPr>
            <a:picLocks noGrp="1" noChangeAspect="1"/>
          </p:cNvPicPr>
          <p:nvPr>
            <p:ph idx="1"/>
          </p:nvPr>
        </p:nvPicPr>
        <p:blipFill>
          <a:blip r:embed="rId2"/>
          <a:stretch>
            <a:fillRect/>
          </a:stretch>
        </p:blipFill>
        <p:spPr>
          <a:xfrm>
            <a:off x="2592926" y="1645921"/>
            <a:ext cx="9350546" cy="4937760"/>
          </a:xfrm>
        </p:spPr>
      </p:pic>
    </p:spTree>
    <p:extLst>
      <p:ext uri="{BB962C8B-B14F-4D97-AF65-F5344CB8AC3E}">
        <p14:creationId xmlns:p14="http://schemas.microsoft.com/office/powerpoint/2010/main" val="1452179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B20967-5934-26DC-A16F-3DD646566828}"/>
              </a:ext>
            </a:extLst>
          </p:cNvPr>
          <p:cNvSpPr>
            <a:spLocks noGrp="1"/>
          </p:cNvSpPr>
          <p:nvPr>
            <p:ph type="title"/>
          </p:nvPr>
        </p:nvSpPr>
        <p:spPr/>
        <p:txBody>
          <a:bodyPr/>
          <a:lstStyle/>
          <a:p>
            <a:pPr algn="ctr"/>
            <a:r>
              <a:rPr lang="pt-BR" dirty="0"/>
              <a:t>Página Web</a:t>
            </a:r>
          </a:p>
        </p:txBody>
      </p:sp>
      <p:pic>
        <p:nvPicPr>
          <p:cNvPr id="4" name="Imagem 3">
            <a:extLst>
              <a:ext uri="{FF2B5EF4-FFF2-40B4-BE49-F238E27FC236}">
                <a16:creationId xmlns:a16="http://schemas.microsoft.com/office/drawing/2014/main" id="{1B28E466-E7FA-D81E-0980-B474E1851CB7}"/>
              </a:ext>
            </a:extLst>
          </p:cNvPr>
          <p:cNvPicPr>
            <a:picLocks noChangeAspect="1"/>
          </p:cNvPicPr>
          <p:nvPr/>
        </p:nvPicPr>
        <p:blipFill>
          <a:blip r:embed="rId2"/>
          <a:stretch>
            <a:fillRect/>
          </a:stretch>
        </p:blipFill>
        <p:spPr>
          <a:xfrm>
            <a:off x="2121460" y="1419004"/>
            <a:ext cx="9383151" cy="5009931"/>
          </a:xfrm>
          <a:prstGeom prst="rect">
            <a:avLst/>
          </a:prstGeom>
        </p:spPr>
      </p:pic>
    </p:spTree>
    <p:extLst>
      <p:ext uri="{BB962C8B-B14F-4D97-AF65-F5344CB8AC3E}">
        <p14:creationId xmlns:p14="http://schemas.microsoft.com/office/powerpoint/2010/main" val="4073007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68F002-F264-97D3-AC27-15A86FC81916}"/>
              </a:ext>
            </a:extLst>
          </p:cNvPr>
          <p:cNvSpPr>
            <a:spLocks noGrp="1"/>
          </p:cNvSpPr>
          <p:nvPr>
            <p:ph type="title"/>
          </p:nvPr>
        </p:nvSpPr>
        <p:spPr/>
        <p:txBody>
          <a:bodyPr/>
          <a:lstStyle/>
          <a:p>
            <a:pPr algn="ctr"/>
            <a:r>
              <a:rPr lang="pt-BR" dirty="0"/>
              <a:t>Lista de Ferramentas</a:t>
            </a:r>
          </a:p>
        </p:txBody>
      </p:sp>
      <p:pic>
        <p:nvPicPr>
          <p:cNvPr id="4" name="Imagem 3">
            <a:extLst>
              <a:ext uri="{FF2B5EF4-FFF2-40B4-BE49-F238E27FC236}">
                <a16:creationId xmlns:a16="http://schemas.microsoft.com/office/drawing/2014/main" id="{CF33CC43-BDF5-255A-5B55-20B4ECD6ACBA}"/>
              </a:ext>
            </a:extLst>
          </p:cNvPr>
          <p:cNvPicPr>
            <a:picLocks noChangeAspect="1"/>
          </p:cNvPicPr>
          <p:nvPr/>
        </p:nvPicPr>
        <p:blipFill>
          <a:blip r:embed="rId2"/>
          <a:stretch>
            <a:fillRect/>
          </a:stretch>
        </p:blipFill>
        <p:spPr>
          <a:xfrm>
            <a:off x="2309812" y="1400175"/>
            <a:ext cx="9194799" cy="4972490"/>
          </a:xfrm>
          <a:prstGeom prst="rect">
            <a:avLst/>
          </a:prstGeom>
        </p:spPr>
      </p:pic>
    </p:spTree>
    <p:extLst>
      <p:ext uri="{BB962C8B-B14F-4D97-AF65-F5344CB8AC3E}">
        <p14:creationId xmlns:p14="http://schemas.microsoft.com/office/powerpoint/2010/main" val="1647606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6EA1D0-18E2-C085-F8DC-BB7881220ADE}"/>
              </a:ext>
            </a:extLst>
          </p:cNvPr>
          <p:cNvSpPr>
            <a:spLocks noGrp="1"/>
          </p:cNvSpPr>
          <p:nvPr>
            <p:ph type="title"/>
          </p:nvPr>
        </p:nvSpPr>
        <p:spPr/>
        <p:txBody>
          <a:bodyPr/>
          <a:lstStyle/>
          <a:p>
            <a:pPr algn="ctr"/>
            <a:r>
              <a:rPr lang="pt-BR" dirty="0"/>
              <a:t>Banco de Dados MySQL</a:t>
            </a:r>
          </a:p>
        </p:txBody>
      </p:sp>
      <p:pic>
        <p:nvPicPr>
          <p:cNvPr id="4" name="Imagem 3">
            <a:extLst>
              <a:ext uri="{FF2B5EF4-FFF2-40B4-BE49-F238E27FC236}">
                <a16:creationId xmlns:a16="http://schemas.microsoft.com/office/drawing/2014/main" id="{7BED063B-ED99-E901-310C-F2E61B20C2A5}"/>
              </a:ext>
            </a:extLst>
          </p:cNvPr>
          <p:cNvPicPr>
            <a:picLocks noChangeAspect="1"/>
          </p:cNvPicPr>
          <p:nvPr/>
        </p:nvPicPr>
        <p:blipFill>
          <a:blip r:embed="rId2"/>
          <a:stretch>
            <a:fillRect/>
          </a:stretch>
        </p:blipFill>
        <p:spPr>
          <a:xfrm>
            <a:off x="2968284" y="1528762"/>
            <a:ext cx="8426548" cy="4970512"/>
          </a:xfrm>
          <a:prstGeom prst="rect">
            <a:avLst/>
          </a:prstGeom>
        </p:spPr>
      </p:pic>
    </p:spTree>
    <p:extLst>
      <p:ext uri="{BB962C8B-B14F-4D97-AF65-F5344CB8AC3E}">
        <p14:creationId xmlns:p14="http://schemas.microsoft.com/office/powerpoint/2010/main" val="2289961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C6E2CD-3AD3-F6AD-40A8-3D313D75A1E8}"/>
              </a:ext>
            </a:extLst>
          </p:cNvPr>
          <p:cNvSpPr>
            <a:spLocks noGrp="1"/>
          </p:cNvSpPr>
          <p:nvPr>
            <p:ph type="title"/>
          </p:nvPr>
        </p:nvSpPr>
        <p:spPr/>
        <p:txBody>
          <a:bodyPr/>
          <a:lstStyle/>
          <a:p>
            <a:r>
              <a:rPr lang="pt-BR" dirty="0"/>
              <a:t>        Solução para os problemas</a:t>
            </a:r>
          </a:p>
        </p:txBody>
      </p:sp>
      <p:sp>
        <p:nvSpPr>
          <p:cNvPr id="3" name="Espaço Reservado para Conteúdo 2">
            <a:extLst>
              <a:ext uri="{FF2B5EF4-FFF2-40B4-BE49-F238E27FC236}">
                <a16:creationId xmlns:a16="http://schemas.microsoft.com/office/drawing/2014/main" id="{B046A237-5156-7587-C878-1E7DB38952C0}"/>
              </a:ext>
            </a:extLst>
          </p:cNvPr>
          <p:cNvSpPr>
            <a:spLocks noGrp="1"/>
          </p:cNvSpPr>
          <p:nvPr>
            <p:ph idx="1"/>
          </p:nvPr>
        </p:nvSpPr>
        <p:spPr/>
        <p:txBody>
          <a:bodyPr>
            <a:normAutofit fontScale="85000" lnSpcReduction="10000"/>
          </a:bodyPr>
          <a:lstStyle/>
          <a:p>
            <a:pPr marL="0" indent="0" algn="just">
              <a:buNone/>
            </a:pPr>
            <a:r>
              <a:rPr lang="pt-BR" dirty="0"/>
              <a:t>Com a implementação do software na oficina houve melhorias significativas, no sentido de tabular e lançar todas as informações monetárias em planilha própria, que antes era feito em papel, resultando em um controle eficaz da gestão financeira, proporcionou uma verificação exata, em tempo real, de todas as peças no seu estoque ao introduzir em planilha específica a quantidade de peças identificadas por etiquetas nas estantes de aço, com códigos e descrições, e, por fim, aperfeiçoou o agendamento e atendimento ao cliente, relacionados ao tipo de serviço a ser prestado, ao lançar em planilha singular tipos de serviços em função de datas e horários semanais, evitando atrasos e insatisfações por parte dos clientes. Esses dados, que antes eram registrados em papel, agora ficam armazenados em banco de dados por meio da Web, para maior controle, registro e segurança das informações, assim, buscando a eficiência aliada à tecnologia.</a:t>
            </a:r>
          </a:p>
          <a:p>
            <a:pPr marL="0" indent="0" algn="just">
              <a:buNone/>
            </a:pPr>
            <a:r>
              <a:rPr lang="pt-BR" dirty="0"/>
              <a:t>Como relevância para comunidade podemos dizer que esse projeto pode ser adaptado para micro e pequenas empresas do ramo de bombas injetoras diesel, adaptando-se a diferentes contextos organizacionais. Permite um ambiente mais organizado e sustentável, evita tarefas repetitivas, economiza tempo e esforço, viabiliza o aumento da produtividade, reduz a possibilidade de erros humanos e faculta a </a:t>
            </a:r>
            <a:r>
              <a:rPr lang="pt-BR"/>
              <a:t>satisfação de clientes. </a:t>
            </a:r>
            <a:endParaRPr lang="pt-BR" dirty="0"/>
          </a:p>
        </p:txBody>
      </p:sp>
    </p:spTree>
    <p:extLst>
      <p:ext uri="{BB962C8B-B14F-4D97-AF65-F5344CB8AC3E}">
        <p14:creationId xmlns:p14="http://schemas.microsoft.com/office/powerpoint/2010/main" val="2112439107"/>
      </p:ext>
    </p:extLst>
  </p:cSld>
  <p:clrMapOvr>
    <a:masterClrMapping/>
  </p:clrMapOvr>
</p:sld>
</file>

<file path=ppt/theme/theme1.xml><?xml version="1.0" encoding="utf-8"?>
<a:theme xmlns:a="http://schemas.openxmlformats.org/drawingml/2006/main" name="Cacho">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731</TotalTime>
  <Words>645</Words>
  <Application>Microsoft Office PowerPoint</Application>
  <PresentationFormat>Widescreen</PresentationFormat>
  <Paragraphs>31</Paragraphs>
  <Slides>17</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17</vt:i4>
      </vt:variant>
    </vt:vector>
  </HeadingPairs>
  <TitlesOfParts>
    <vt:vector size="21" baseType="lpstr">
      <vt:lpstr>Arial</vt:lpstr>
      <vt:lpstr>Century Gothic</vt:lpstr>
      <vt:lpstr>Wingdings 3</vt:lpstr>
      <vt:lpstr>Cacho</vt:lpstr>
      <vt:lpstr>Manutenção e reparação de bombas injetoras diesel: eficiência e gestão aliadas à tecnologia</vt:lpstr>
      <vt:lpstr>Integrantes do grupo</vt:lpstr>
      <vt:lpstr>                     Justificativa</vt:lpstr>
      <vt:lpstr>Pátio da oficina – a foto mostra veículos à esquerda em manutenção, ao centro aguardando atendimento e à direita cumprindo agendamento de serviço. </vt:lpstr>
      <vt:lpstr>Controle de estoque de peças no interior da oficina – a foto mostra no canto superior esquerdo uma estante de aço toda etiquetada, contendo várias peças organizadas em códigos e descrições. No canto inferior esquerdo mostra uma das divisórias da estante organizada em jogos de reparo do regulador e corpo regulador do motor Yanmar moderno. No canto inferior direito o notebook da oficina, mostrando em sua tela a planilha de controle de estoque de peças.</vt:lpstr>
      <vt:lpstr>Sala da administração da oficina - a foto mostra à esquerda e sobre a mesa da administração uma calculadora, vários documentos e um notebook. À direita mostra um notebook e em sua tela a planilha de controle financeiro da oficina. </vt:lpstr>
      <vt:lpstr>Lista de arquivos</vt:lpstr>
      <vt:lpstr>Códigos</vt:lpstr>
      <vt:lpstr>Continuação dos códigos</vt:lpstr>
      <vt:lpstr>Continuação dos códigos</vt:lpstr>
      <vt:lpstr>                GitHub branch main</vt:lpstr>
      <vt:lpstr>              GitHub branch master </vt:lpstr>
      <vt:lpstr>                GitHub branch teste</vt:lpstr>
      <vt:lpstr>Página Web</vt:lpstr>
      <vt:lpstr>Lista de Ferramentas</vt:lpstr>
      <vt:lpstr>Banco de Dados MySQL</vt:lpstr>
      <vt:lpstr>        Solução para os problemas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Gerenciamento de ferramentas</dc:title>
  <dc:creator>Jonas Pereira</dc:creator>
  <cp:lastModifiedBy>Heleno</cp:lastModifiedBy>
  <cp:revision>190</cp:revision>
  <dcterms:created xsi:type="dcterms:W3CDTF">2024-05-26T14:57:27Z</dcterms:created>
  <dcterms:modified xsi:type="dcterms:W3CDTF">2024-11-11T01:18:44Z</dcterms:modified>
</cp:coreProperties>
</file>